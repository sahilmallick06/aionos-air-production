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Speaker Notes: Good morning stakeholders. We are excited to present AIONOS AIR, an enterprise disruption control tower for commercial aviation. Irregular operations cost global airlines over $60B annually in delay costs and customer churn. AIONOS AIR introduces a dual-engine architecture combining neural conversational empathy with non-negotiable deterministic policy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Speaker Notes: The airline industry cannot solve irregular operations simply by hiring more call center staff. A hub disruption produces an 800% demand surge that overwhelms human capacity, leading to millions in unbudgeted agent waivers and regulatory 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Speaker Notes: Why can airlines not simply plug in ChatGPT or an off-the-shelf RAG pipeline? Because conversational fluency does not equal regulatory or financial accuracy. Generic LLMs hallucinate non-existent flights, promise unauthorized upgrades on unaffected return legs, and expose airlines to severe legal 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Speaker Notes: Here is the AIONOS AIR solution. Notice the fundamental design shift: the policy engine runs FIRST. Before a single word is generated by Gemini 3.6 Flash, the customer claim is mathematically evaluated against hard airline rules. The AI is an empathetic communicator, never the policy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Speaker Notes: This slide explains our proprietary technical innovation: PRAG-A. Unlike black-box AI chatbots, every decision in AIONOS AIR passes through 5 transparent stages: Perceive, Retrieve, Reason, Guardrail, and Act. Every step is inspectable by airline supervisors and regulatory auditors.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Speaker Notes: We engineered 3 distinct live personas into AIONOS AIR to prove our deterministic boundary protection under realistic customer pressure: Priya tests return flight isolation; Arvind tests the 4-hour delay hotel threshold; Meher tests the 1,500 rupee frontline waiver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Speaker Notes: This matrix represents the fiscal and legal backbone of an airline. Every entitlement is an algorithmic condition. If Arvind is delayed 4 hours, hotel accommodation is mathematically Exceeded. There is zero ambiguity and zero room for model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Speaker Notes: AIONOS AIR goes beyond passive chat into direct action dispatch. Pre-approved remedies execute within 250ms. When an exception is requested, the system automatically opens a formal supervisor ticket with complete audit context, ensuring care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Speaker Notes: Compliance requires proof. Our immutable audit ledger captures every customer message, policy check, guardrail block, and action execution with microsecond timestamps. If a passenger disputes statutory care, the airline possesses a non-repudiable legal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Speaker Notes: Situational awareness transforms customer psychology during disruptions. Our WebGL Three.js opening scene renders 3D aircraft telemetry and hub network congestion, giving travelers transparent spatial visibility into why their flight was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Speaker Notes: The financial return is clear: A carrier handling 10M flyers saves over $4.2M annually by capping unauthorized waivers, slashes call center handling time by 85%, and preserves high-yield corporate accounts by eliminating disruption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Speaker Notes: In conclusion, AIONOS AIR is architected for enterprise global scale. Phase 1 is delivered and verified today on Cloud Run. Phase 2 connects directly to Amadeus and Sabre GDS protocols, and Phase 3 enables sub-second voice WebRTC. Thank you for your time, and we invite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48640" y="731520"/>
            <a:ext cx="11091672" cy="73152"/>
          </a:xfrm>
          <a:prstGeom prst="rect">
            <a:avLst/>
          </a:prstGeom>
          <a:solidFill>
            <a:srgbClr val="0284C7"/>
          </a:solidFill>
          <a:ln/>
        </p:spPr>
      </p:sp>
      <p:sp>
        <p:nvSpPr>
          <p:cNvPr id="3" name="Text 1"/>
          <p:cNvSpPr/>
          <p:nvPr/>
        </p:nvSpPr>
        <p:spPr>
          <a:xfrm>
            <a:off x="548640" y="1005840"/>
            <a:ext cx="9144000" cy="320040"/>
          </a:xfrm>
          <a:prstGeom prst="rect">
            <a:avLst/>
          </a:prstGeom>
          <a:noFill/>
          <a:ln/>
        </p:spPr>
        <p:txBody>
          <a:bodyPr wrap="square" rtlCol="0" anchor="ctr"/>
          <a:lstStyle/>
          <a:p>
            <a:pPr indent="0" marL="0">
              <a:buNone/>
            </a:pPr>
            <a:r>
              <a:rPr lang="en-US" sz="1200" b="1" dirty="0">
                <a:solidFill>
                  <a:srgbClr val="38BDF8"/>
                </a:solidFill>
                <a:latin typeface="Courier New" pitchFamily="34" charset="0"/>
                <a:ea typeface="Courier New" pitchFamily="34" charset="-122"/>
                <a:cs typeface="Courier New" pitchFamily="34" charset="-120"/>
              </a:rPr>
              <a:t>ENTERPRISE AVIATION AI PLATFORM</a:t>
            </a:r>
            <a:endParaRPr lang="en-US" sz="1200" dirty="0"/>
          </a:p>
        </p:txBody>
      </p:sp>
      <p:sp>
        <p:nvSpPr>
          <p:cNvPr id="4" name="Text 2"/>
          <p:cNvSpPr/>
          <p:nvPr/>
        </p:nvSpPr>
        <p:spPr>
          <a:xfrm>
            <a:off x="548640" y="1371600"/>
            <a:ext cx="10972800" cy="1005840"/>
          </a:xfrm>
          <a:prstGeom prst="rect">
            <a:avLst/>
          </a:prstGeom>
          <a:noFill/>
          <a:ln/>
        </p:spPr>
        <p:txBody>
          <a:bodyPr wrap="square" rtlCol="0" anchor="ctr"/>
          <a:lstStyle/>
          <a:p>
            <a:pPr indent="0" marL="0">
              <a:buNone/>
            </a:pPr>
            <a:r>
              <a:rPr lang="en-US" sz="4800" b="1" dirty="0">
                <a:solidFill>
                  <a:srgbClr val="FFFFFF"/>
                </a:solidFill>
                <a:latin typeface="Arial" pitchFamily="34" charset="0"/>
                <a:ea typeface="Arial" pitchFamily="34" charset="-122"/>
                <a:cs typeface="Arial" pitchFamily="34" charset="-120"/>
              </a:rPr>
              <a:t>AIONOS AIR</a:t>
            </a:r>
            <a:endParaRPr lang="en-US" sz="4800" dirty="0"/>
          </a:p>
        </p:txBody>
      </p:sp>
      <p:sp>
        <p:nvSpPr>
          <p:cNvPr id="5" name="Text 3"/>
          <p:cNvSpPr/>
          <p:nvPr/>
        </p:nvSpPr>
        <p:spPr>
          <a:xfrm>
            <a:off x="548640" y="2377440"/>
            <a:ext cx="10972800" cy="548640"/>
          </a:xfrm>
          <a:prstGeom prst="rect">
            <a:avLst/>
          </a:prstGeom>
          <a:noFill/>
          <a:ln/>
        </p:spPr>
        <p:txBody>
          <a:bodyPr wrap="square" rtlCol="0" anchor="ctr"/>
          <a:lstStyle/>
          <a:p>
            <a:pPr indent="0" marL="0">
              <a:buNone/>
            </a:pPr>
            <a:r>
              <a:rPr lang="en-US" sz="2200" b="1" dirty="0">
                <a:solidFill>
                  <a:srgbClr val="38BDF8"/>
                </a:solidFill>
                <a:latin typeface="Arial" pitchFamily="34" charset="0"/>
                <a:ea typeface="Arial" pitchFamily="34" charset="-122"/>
                <a:cs typeface="Arial" pitchFamily="34" charset="-120"/>
              </a:rPr>
              <a:t>Autonomous Disruption Resolution &amp; Deterministic Policy Authority</a:t>
            </a:r>
            <a:endParaRPr lang="en-US" sz="2200" dirty="0"/>
          </a:p>
        </p:txBody>
      </p:sp>
      <p:sp>
        <p:nvSpPr>
          <p:cNvPr id="6" name="Text 4"/>
          <p:cNvSpPr/>
          <p:nvPr/>
        </p:nvSpPr>
        <p:spPr>
          <a:xfrm>
            <a:off x="548640" y="3017520"/>
            <a:ext cx="10972800" cy="640080"/>
          </a:xfrm>
          <a:prstGeom prst="rect">
            <a:avLst/>
          </a:prstGeom>
          <a:noFill/>
          <a:ln/>
        </p:spPr>
        <p:txBody>
          <a:bodyPr wrap="square" rtlCol="0" anchor="ctr"/>
          <a:lstStyle/>
          <a:p>
            <a:pPr indent="0" marL="0">
              <a:lnSpc>
                <a:spcPct val="120000"/>
              </a:lnSpc>
              <a:buNone/>
            </a:pPr>
            <a:r>
              <a:rPr lang="en-US" sz="1400" dirty="0">
                <a:solidFill>
                  <a:srgbClr val="94A3B8"/>
                </a:solidFill>
                <a:latin typeface="Arial" pitchFamily="34" charset="0"/>
                <a:ea typeface="Arial" pitchFamily="34" charset="-122"/>
                <a:cs typeface="Arial" pitchFamily="34" charset="-120"/>
              </a:rPr>
              <a:t>Solving the $60B airline irregular operations (IROPS) crisis through verified PNR telemetry, non-hallucinatory deterministic rule guardrails, and automated self-service execution.</a:t>
            </a:r>
            <a:endParaRPr lang="en-US" sz="1400" dirty="0"/>
          </a:p>
        </p:txBody>
      </p:sp>
      <p:sp>
        <p:nvSpPr>
          <p:cNvPr id="7" name="Shape 5"/>
          <p:cNvSpPr/>
          <p:nvPr/>
        </p:nvSpPr>
        <p:spPr>
          <a:xfrm>
            <a:off x="548640" y="3931920"/>
            <a:ext cx="2651760" cy="1645920"/>
          </a:xfrm>
          <a:prstGeom prst="roundRect">
            <a:avLst>
              <a:gd name="adj" fmla="val 5556"/>
            </a:avLst>
          </a:prstGeom>
          <a:solidFill>
            <a:srgbClr val="1E293B"/>
          </a:solidFill>
          <a:ln w="12700">
            <a:solidFill>
              <a:srgbClr val="334155"/>
            </a:solidFill>
            <a:prstDash val="solid"/>
          </a:ln>
        </p:spPr>
      </p:sp>
      <p:sp>
        <p:nvSpPr>
          <p:cNvPr id="8" name="Text 6"/>
          <p:cNvSpPr/>
          <p:nvPr/>
        </p:nvSpPr>
        <p:spPr>
          <a:xfrm>
            <a:off x="731520" y="4069080"/>
            <a:ext cx="2286000" cy="274320"/>
          </a:xfrm>
          <a:prstGeom prst="rect">
            <a:avLst/>
          </a:prstGeom>
          <a:noFill/>
          <a:ln/>
        </p:spPr>
        <p:txBody>
          <a:bodyPr wrap="square" rtlCol="0" anchor="ctr"/>
          <a:lstStyle/>
          <a:p>
            <a:pPr indent="0" marL="0">
              <a:buNone/>
            </a:pPr>
            <a:r>
              <a:rPr lang="en-US" sz="1000" b="1" dirty="0">
                <a:solidFill>
                  <a:srgbClr val="94A3B8"/>
                </a:solidFill>
                <a:latin typeface="Courier New" pitchFamily="34" charset="0"/>
                <a:ea typeface="Courier New" pitchFamily="34" charset="-122"/>
                <a:cs typeface="Courier New" pitchFamily="34" charset="-120"/>
              </a:rPr>
              <a:t>RESOLUTION TIME</a:t>
            </a:r>
            <a:endParaRPr lang="en-US" sz="1000" dirty="0"/>
          </a:p>
        </p:txBody>
      </p:sp>
      <p:sp>
        <p:nvSpPr>
          <p:cNvPr id="9" name="Text 7"/>
          <p:cNvSpPr/>
          <p:nvPr/>
        </p:nvSpPr>
        <p:spPr>
          <a:xfrm>
            <a:off x="731520" y="4343400"/>
            <a:ext cx="2286000" cy="640080"/>
          </a:xfrm>
          <a:prstGeom prst="rect">
            <a:avLst/>
          </a:prstGeom>
          <a:noFill/>
          <a:ln/>
        </p:spPr>
        <p:txBody>
          <a:bodyPr wrap="square" rtlCol="0" anchor="ctr"/>
          <a:lstStyle/>
          <a:p>
            <a:pPr indent="0" marL="0">
              <a:buNone/>
            </a:pPr>
            <a:r>
              <a:rPr lang="en-US" sz="2600" b="1" dirty="0">
                <a:solidFill>
                  <a:srgbClr val="0284C7"/>
                </a:solidFill>
                <a:latin typeface="Arial" pitchFamily="34" charset="0"/>
                <a:ea typeface="Arial" pitchFamily="34" charset="-122"/>
                <a:cs typeface="Arial" pitchFamily="34" charset="-120"/>
              </a:rPr>
              <a:t>&lt; 90 SEC</a:t>
            </a:r>
            <a:endParaRPr lang="en-US" sz="2600" dirty="0"/>
          </a:p>
        </p:txBody>
      </p:sp>
      <p:sp>
        <p:nvSpPr>
          <p:cNvPr id="10" name="Text 8"/>
          <p:cNvSpPr/>
          <p:nvPr/>
        </p:nvSpPr>
        <p:spPr>
          <a:xfrm>
            <a:off x="731520" y="4983480"/>
            <a:ext cx="22860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Slashing 45-min queues</a:t>
            </a:r>
            <a:endParaRPr lang="en-US" sz="1000" dirty="0"/>
          </a:p>
        </p:txBody>
      </p:sp>
      <p:sp>
        <p:nvSpPr>
          <p:cNvPr id="11" name="Shape 9"/>
          <p:cNvSpPr/>
          <p:nvPr/>
        </p:nvSpPr>
        <p:spPr>
          <a:xfrm>
            <a:off x="3364992" y="3931920"/>
            <a:ext cx="2651760" cy="1645920"/>
          </a:xfrm>
          <a:prstGeom prst="roundRect">
            <a:avLst>
              <a:gd name="adj" fmla="val 5556"/>
            </a:avLst>
          </a:prstGeom>
          <a:solidFill>
            <a:srgbClr val="1E293B"/>
          </a:solidFill>
          <a:ln w="12700">
            <a:solidFill>
              <a:srgbClr val="334155"/>
            </a:solidFill>
            <a:prstDash val="solid"/>
          </a:ln>
        </p:spPr>
      </p:sp>
      <p:sp>
        <p:nvSpPr>
          <p:cNvPr id="12" name="Text 10"/>
          <p:cNvSpPr/>
          <p:nvPr/>
        </p:nvSpPr>
        <p:spPr>
          <a:xfrm>
            <a:off x="3547872" y="4069080"/>
            <a:ext cx="2286000" cy="274320"/>
          </a:xfrm>
          <a:prstGeom prst="rect">
            <a:avLst/>
          </a:prstGeom>
          <a:noFill/>
          <a:ln/>
        </p:spPr>
        <p:txBody>
          <a:bodyPr wrap="square" rtlCol="0" anchor="ctr"/>
          <a:lstStyle/>
          <a:p>
            <a:pPr indent="0" marL="0">
              <a:buNone/>
            </a:pPr>
            <a:r>
              <a:rPr lang="en-US" sz="1000" b="1" dirty="0">
                <a:solidFill>
                  <a:srgbClr val="94A3B8"/>
                </a:solidFill>
                <a:latin typeface="Courier New" pitchFamily="34" charset="0"/>
                <a:ea typeface="Courier New" pitchFamily="34" charset="-122"/>
                <a:cs typeface="Courier New" pitchFamily="34" charset="-120"/>
              </a:rPr>
              <a:t>POLICY ADHERENCE</a:t>
            </a:r>
            <a:endParaRPr lang="en-US" sz="1000" dirty="0"/>
          </a:p>
        </p:txBody>
      </p:sp>
      <p:sp>
        <p:nvSpPr>
          <p:cNvPr id="13" name="Text 11"/>
          <p:cNvSpPr/>
          <p:nvPr/>
        </p:nvSpPr>
        <p:spPr>
          <a:xfrm>
            <a:off x="3547872" y="4343400"/>
            <a:ext cx="2286000" cy="640080"/>
          </a:xfrm>
          <a:prstGeom prst="rect">
            <a:avLst/>
          </a:prstGeom>
          <a:noFill/>
          <a:ln/>
        </p:spPr>
        <p:txBody>
          <a:bodyPr wrap="square" rtlCol="0" anchor="ctr"/>
          <a:lstStyle/>
          <a:p>
            <a:pPr indent="0" marL="0">
              <a:buNone/>
            </a:pPr>
            <a:r>
              <a:rPr lang="en-US" sz="2600" b="1" dirty="0">
                <a:solidFill>
                  <a:srgbClr val="10B981"/>
                </a:solidFill>
                <a:latin typeface="Arial" pitchFamily="34" charset="0"/>
                <a:ea typeface="Arial" pitchFamily="34" charset="-122"/>
                <a:cs typeface="Arial" pitchFamily="34" charset="-120"/>
              </a:rPr>
              <a:t>100.0%</a:t>
            </a:r>
            <a:endParaRPr lang="en-US" sz="2600" dirty="0"/>
          </a:p>
        </p:txBody>
      </p:sp>
      <p:sp>
        <p:nvSpPr>
          <p:cNvPr id="14" name="Text 12"/>
          <p:cNvSpPr/>
          <p:nvPr/>
        </p:nvSpPr>
        <p:spPr>
          <a:xfrm>
            <a:off x="3547872" y="4983480"/>
            <a:ext cx="22860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Zero unauthorized waivers</a:t>
            </a:r>
            <a:endParaRPr lang="en-US" sz="1000" dirty="0"/>
          </a:p>
        </p:txBody>
      </p:sp>
      <p:sp>
        <p:nvSpPr>
          <p:cNvPr id="15" name="Shape 13"/>
          <p:cNvSpPr/>
          <p:nvPr/>
        </p:nvSpPr>
        <p:spPr>
          <a:xfrm>
            <a:off x="6181344" y="3931920"/>
            <a:ext cx="2651760" cy="1645920"/>
          </a:xfrm>
          <a:prstGeom prst="roundRect">
            <a:avLst>
              <a:gd name="adj" fmla="val 5556"/>
            </a:avLst>
          </a:prstGeom>
          <a:solidFill>
            <a:srgbClr val="1E293B"/>
          </a:solidFill>
          <a:ln w="12700">
            <a:solidFill>
              <a:srgbClr val="334155"/>
            </a:solidFill>
            <a:prstDash val="solid"/>
          </a:ln>
        </p:spPr>
      </p:sp>
      <p:sp>
        <p:nvSpPr>
          <p:cNvPr id="16" name="Text 14"/>
          <p:cNvSpPr/>
          <p:nvPr/>
        </p:nvSpPr>
        <p:spPr>
          <a:xfrm>
            <a:off x="6364224" y="4069080"/>
            <a:ext cx="2286000" cy="274320"/>
          </a:xfrm>
          <a:prstGeom prst="rect">
            <a:avLst/>
          </a:prstGeom>
          <a:noFill/>
          <a:ln/>
        </p:spPr>
        <p:txBody>
          <a:bodyPr wrap="square" rtlCol="0" anchor="ctr"/>
          <a:lstStyle/>
          <a:p>
            <a:pPr indent="0" marL="0">
              <a:buNone/>
            </a:pPr>
            <a:r>
              <a:rPr lang="en-US" sz="1000" b="1" dirty="0">
                <a:solidFill>
                  <a:srgbClr val="94A3B8"/>
                </a:solidFill>
                <a:latin typeface="Courier New" pitchFamily="34" charset="0"/>
                <a:ea typeface="Courier New" pitchFamily="34" charset="-122"/>
                <a:cs typeface="Courier New" pitchFamily="34" charset="-120"/>
              </a:rPr>
              <a:t>HALLUCINATION RATE</a:t>
            </a:r>
            <a:endParaRPr lang="en-US" sz="1000" dirty="0"/>
          </a:p>
        </p:txBody>
      </p:sp>
      <p:sp>
        <p:nvSpPr>
          <p:cNvPr id="17" name="Text 15"/>
          <p:cNvSpPr/>
          <p:nvPr/>
        </p:nvSpPr>
        <p:spPr>
          <a:xfrm>
            <a:off x="6364224" y="4343400"/>
            <a:ext cx="2286000" cy="640080"/>
          </a:xfrm>
          <a:prstGeom prst="rect">
            <a:avLst/>
          </a:prstGeom>
          <a:noFill/>
          <a:ln/>
        </p:spPr>
        <p:txBody>
          <a:bodyPr wrap="square" rtlCol="0" anchor="ctr"/>
          <a:lstStyle/>
          <a:p>
            <a:pPr indent="0" marL="0">
              <a:buNone/>
            </a:pPr>
            <a:r>
              <a:rPr lang="en-US" sz="2600" b="1" dirty="0">
                <a:solidFill>
                  <a:srgbClr val="38BDF8"/>
                </a:solidFill>
                <a:latin typeface="Arial" pitchFamily="34" charset="0"/>
                <a:ea typeface="Arial" pitchFamily="34" charset="-122"/>
                <a:cs typeface="Arial" pitchFamily="34" charset="-120"/>
              </a:rPr>
              <a:t>0.00%</a:t>
            </a:r>
            <a:endParaRPr lang="en-US" sz="2600" dirty="0"/>
          </a:p>
        </p:txBody>
      </p:sp>
      <p:sp>
        <p:nvSpPr>
          <p:cNvPr id="18" name="Text 16"/>
          <p:cNvSpPr/>
          <p:nvPr/>
        </p:nvSpPr>
        <p:spPr>
          <a:xfrm>
            <a:off x="6364224" y="4983480"/>
            <a:ext cx="22860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Deterministic guardrails</a:t>
            </a:r>
            <a:endParaRPr lang="en-US" sz="1000" dirty="0"/>
          </a:p>
        </p:txBody>
      </p:sp>
      <p:sp>
        <p:nvSpPr>
          <p:cNvPr id="19" name="Shape 17"/>
          <p:cNvSpPr/>
          <p:nvPr/>
        </p:nvSpPr>
        <p:spPr>
          <a:xfrm>
            <a:off x="8997696" y="3931920"/>
            <a:ext cx="2651760" cy="1645920"/>
          </a:xfrm>
          <a:prstGeom prst="roundRect">
            <a:avLst>
              <a:gd name="adj" fmla="val 5556"/>
            </a:avLst>
          </a:prstGeom>
          <a:solidFill>
            <a:srgbClr val="1E293B"/>
          </a:solidFill>
          <a:ln w="12700">
            <a:solidFill>
              <a:srgbClr val="334155"/>
            </a:solidFill>
            <a:prstDash val="solid"/>
          </a:ln>
        </p:spPr>
      </p:sp>
      <p:sp>
        <p:nvSpPr>
          <p:cNvPr id="20" name="Text 18"/>
          <p:cNvSpPr/>
          <p:nvPr/>
        </p:nvSpPr>
        <p:spPr>
          <a:xfrm>
            <a:off x="9180576" y="4069080"/>
            <a:ext cx="2286000" cy="274320"/>
          </a:xfrm>
          <a:prstGeom prst="rect">
            <a:avLst/>
          </a:prstGeom>
          <a:noFill/>
          <a:ln/>
        </p:spPr>
        <p:txBody>
          <a:bodyPr wrap="square" rtlCol="0" anchor="ctr"/>
          <a:lstStyle/>
          <a:p>
            <a:pPr indent="0" marL="0">
              <a:buNone/>
            </a:pPr>
            <a:r>
              <a:rPr lang="en-US" sz="1000" b="1" dirty="0">
                <a:solidFill>
                  <a:srgbClr val="94A3B8"/>
                </a:solidFill>
                <a:latin typeface="Courier New" pitchFamily="34" charset="0"/>
                <a:ea typeface="Courier New" pitchFamily="34" charset="-122"/>
                <a:cs typeface="Courier New" pitchFamily="34" charset="-120"/>
              </a:rPr>
              <a:t>PILOT DEPLOYMENT</a:t>
            </a:r>
            <a:endParaRPr lang="en-US" sz="1000" dirty="0"/>
          </a:p>
        </p:txBody>
      </p:sp>
      <p:sp>
        <p:nvSpPr>
          <p:cNvPr id="21" name="Text 19"/>
          <p:cNvSpPr/>
          <p:nvPr/>
        </p:nvSpPr>
        <p:spPr>
          <a:xfrm>
            <a:off x="9180576" y="4343400"/>
            <a:ext cx="2286000" cy="640080"/>
          </a:xfrm>
          <a:prstGeom prst="rect">
            <a:avLst/>
          </a:prstGeom>
          <a:noFill/>
          <a:ln/>
        </p:spPr>
        <p:txBody>
          <a:bodyPr wrap="square" rtlCol="0" anchor="ctr"/>
          <a:lstStyle/>
          <a:p>
            <a:pPr indent="0" marL="0">
              <a:buNone/>
            </a:pPr>
            <a:r>
              <a:rPr lang="en-US" sz="2600" b="1" dirty="0">
                <a:solidFill>
                  <a:srgbClr val="F59E0B"/>
                </a:solidFill>
                <a:latin typeface="Arial" pitchFamily="34" charset="0"/>
                <a:ea typeface="Arial" pitchFamily="34" charset="-122"/>
                <a:cs typeface="Arial" pitchFamily="34" charset="-120"/>
              </a:rPr>
              <a:t>SEP 2026</a:t>
            </a:r>
            <a:endParaRPr lang="en-US" sz="2600" dirty="0"/>
          </a:p>
        </p:txBody>
      </p:sp>
      <p:sp>
        <p:nvSpPr>
          <p:cNvPr id="22" name="Text 20"/>
          <p:cNvSpPr/>
          <p:nvPr/>
        </p:nvSpPr>
        <p:spPr>
          <a:xfrm>
            <a:off x="9180576" y="4983480"/>
            <a:ext cx="228600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DGCA / EU261 Compliant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PROBLEM STATEMENT</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$60 Billion Aviation Disruption Crisis</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Irregular Operations (IROPS) Overwhelm Contact Centers, Bleed Airline Margins &amp; Trigger Fines</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5669280" cy="1325880"/>
          </a:xfrm>
          <a:prstGeom prst="roundRect">
            <a:avLst>
              <a:gd name="adj" fmla="val 5517"/>
            </a:avLst>
          </a:prstGeom>
          <a:solidFill>
            <a:srgbClr val="1E293B"/>
          </a:solidFill>
          <a:ln w="12700">
            <a:solidFill>
              <a:srgbClr val="334155"/>
            </a:solidFill>
            <a:prstDash val="solid"/>
          </a:ln>
        </p:spPr>
      </p:sp>
      <p:sp>
        <p:nvSpPr>
          <p:cNvPr id="10" name="Text 8"/>
          <p:cNvSpPr/>
          <p:nvPr/>
        </p:nvSpPr>
        <p:spPr>
          <a:xfrm>
            <a:off x="731520" y="1783080"/>
            <a:ext cx="5303520" cy="32004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01. Severe Frontline Bottlenecks During Ground Stops</a:t>
            </a:r>
            <a:endParaRPr lang="en-US" sz="1200" dirty="0"/>
          </a:p>
        </p:txBody>
      </p:sp>
      <p:sp>
        <p:nvSpPr>
          <p:cNvPr id="11" name="Text 9"/>
          <p:cNvSpPr/>
          <p:nvPr/>
        </p:nvSpPr>
        <p:spPr>
          <a:xfrm>
            <a:off x="731520" y="2103120"/>
            <a:ext cx="530352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When weather or ATC halts hub flights, call volume spikes 800%. Less than 8% of affected passengers reach an agent within 2 hours, resulting in 45 to 90-minute hold times and public brand backlash.</a:t>
            </a:r>
            <a:endParaRPr lang="en-US" sz="1050" dirty="0"/>
          </a:p>
        </p:txBody>
      </p:sp>
      <p:sp>
        <p:nvSpPr>
          <p:cNvPr id="12" name="Shape 10"/>
          <p:cNvSpPr/>
          <p:nvPr/>
        </p:nvSpPr>
        <p:spPr>
          <a:xfrm>
            <a:off x="548640" y="3108960"/>
            <a:ext cx="5669280" cy="1325880"/>
          </a:xfrm>
          <a:prstGeom prst="roundRect">
            <a:avLst>
              <a:gd name="adj" fmla="val 5517"/>
            </a:avLst>
          </a:prstGeom>
          <a:solidFill>
            <a:srgbClr val="1E293B"/>
          </a:solidFill>
          <a:ln w="12700">
            <a:solidFill>
              <a:srgbClr val="334155"/>
            </a:solidFill>
            <a:prstDash val="solid"/>
          </a:ln>
        </p:spPr>
      </p:sp>
      <p:sp>
        <p:nvSpPr>
          <p:cNvPr id="13" name="Text 11"/>
          <p:cNvSpPr/>
          <p:nvPr/>
        </p:nvSpPr>
        <p:spPr>
          <a:xfrm>
            <a:off x="731520" y="3246120"/>
            <a:ext cx="5303520" cy="32004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02. $14.2M Annual Discretionary Compensation Leakage</a:t>
            </a:r>
            <a:endParaRPr lang="en-US" sz="1200" dirty="0"/>
          </a:p>
        </p:txBody>
      </p:sp>
      <p:sp>
        <p:nvSpPr>
          <p:cNvPr id="14" name="Text 12"/>
          <p:cNvSpPr/>
          <p:nvPr/>
        </p:nvSpPr>
        <p:spPr>
          <a:xfrm>
            <a:off x="731520" y="3566160"/>
            <a:ext cx="530352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Tired support agents under pressure routinely grant unauthorized cabin upgrades, overnight hotels, and excessive fare waivers outside airline operational manual limits to appease angry flyers.</a:t>
            </a:r>
            <a:endParaRPr lang="en-US" sz="1050" dirty="0"/>
          </a:p>
        </p:txBody>
      </p:sp>
      <p:sp>
        <p:nvSpPr>
          <p:cNvPr id="15" name="Shape 13"/>
          <p:cNvSpPr/>
          <p:nvPr/>
        </p:nvSpPr>
        <p:spPr>
          <a:xfrm>
            <a:off x="548640" y="4572000"/>
            <a:ext cx="5669280" cy="1325880"/>
          </a:xfrm>
          <a:prstGeom prst="roundRect">
            <a:avLst>
              <a:gd name="adj" fmla="val 5517"/>
            </a:avLst>
          </a:prstGeom>
          <a:solidFill>
            <a:srgbClr val="1E293B"/>
          </a:solidFill>
          <a:ln w="12700">
            <a:solidFill>
              <a:srgbClr val="334155"/>
            </a:solidFill>
            <a:prstDash val="solid"/>
          </a:ln>
        </p:spPr>
      </p:sp>
      <p:sp>
        <p:nvSpPr>
          <p:cNvPr id="16" name="Text 14"/>
          <p:cNvSpPr/>
          <p:nvPr/>
        </p:nvSpPr>
        <p:spPr>
          <a:xfrm>
            <a:off x="731520" y="4709160"/>
            <a:ext cx="5303520" cy="32004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03. Strict Civil Aviation Mandates &amp; Sanctions</a:t>
            </a:r>
            <a:endParaRPr lang="en-US" sz="1200" dirty="0"/>
          </a:p>
        </p:txBody>
      </p:sp>
      <p:sp>
        <p:nvSpPr>
          <p:cNvPr id="17" name="Text 15"/>
          <p:cNvSpPr/>
          <p:nvPr/>
        </p:nvSpPr>
        <p:spPr>
          <a:xfrm>
            <a:off x="731520" y="5029200"/>
            <a:ext cx="530352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Civil aviation authorities (DGCA CAR Section 3, EU261, US DOT) enforce strict statutory rights for meals, lounge access, and cash refunds. Non-compliance risks multimillion-dollar operating sanctions.</a:t>
            </a:r>
            <a:endParaRPr lang="en-US" sz="1050" dirty="0"/>
          </a:p>
        </p:txBody>
      </p:sp>
      <p:sp>
        <p:nvSpPr>
          <p:cNvPr id="18" name="Shape 16"/>
          <p:cNvSpPr/>
          <p:nvPr/>
        </p:nvSpPr>
        <p:spPr>
          <a:xfrm>
            <a:off x="6492240" y="1645920"/>
            <a:ext cx="5120640" cy="4526280"/>
          </a:xfrm>
          <a:prstGeom prst="roundRect">
            <a:avLst>
              <a:gd name="adj" fmla="val 1616"/>
            </a:avLst>
          </a:prstGeom>
          <a:solidFill>
            <a:srgbClr val="131C31"/>
          </a:solidFill>
          <a:ln w="12700">
            <a:solidFill>
              <a:srgbClr val="475569"/>
            </a:solidFill>
            <a:prstDash val="solid"/>
          </a:ln>
        </p:spPr>
      </p:sp>
      <p:sp>
        <p:nvSpPr>
          <p:cNvPr id="19" name="Text 17"/>
          <p:cNvSpPr/>
          <p:nvPr/>
        </p:nvSpPr>
        <p:spPr>
          <a:xfrm>
            <a:off x="6675120" y="1828800"/>
            <a:ext cx="4754880" cy="320040"/>
          </a:xfrm>
          <a:prstGeom prst="rect">
            <a:avLst/>
          </a:prstGeom>
          <a:noFill/>
          <a:ln/>
        </p:spPr>
        <p:txBody>
          <a:bodyPr wrap="square" rtlCol="0" anchor="ctr"/>
          <a:lstStyle/>
          <a:p>
            <a:pPr indent="0" marL="0">
              <a:buNone/>
            </a:pPr>
            <a:r>
              <a:rPr lang="en-US" sz="1100" b="1" dirty="0">
                <a:solidFill>
                  <a:srgbClr val="38BDF8"/>
                </a:solidFill>
                <a:latin typeface="Courier New" pitchFamily="34" charset="0"/>
                <a:ea typeface="Courier New" pitchFamily="34" charset="-122"/>
                <a:cs typeface="Courier New" pitchFamily="34" charset="-120"/>
              </a:rPr>
              <a:t>IROPS INDUSTRY IMPACT // BENCHMARK DATA</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75120" y="2286000"/>
          <a:ext cx="4754880" cy="914400"/>
        </p:xfrm>
        <a:graphic>
          <a:graphicData uri="http://schemas.openxmlformats.org/drawingml/2006/table">
            <a:tbl>
              <a:tblPr/>
              <a:tblGrid>
                <a:gridCol w="2011680"/>
                <a:gridCol w="1463040"/>
                <a:gridCol w="1280160"/>
              </a:tblGrid>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Metric</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Legacy Operation</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Annual Impact</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Annual Global Delay Cost</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23% Flights Delayed</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$60,500,000,000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Peak Call Hold Time</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45 - 90 Minutes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92% Abandonment</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Agent Comp Leakage</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Unchecked Waivers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$14.2M / Carrier</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Statutory Penalty Risk</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DGCA / EU261</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Up to €600 / Passenger</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02920">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High-Tier Loyalty Churn</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Unresolved IROPS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dirty="0">
                          <a:solidFill>
                            <a:srgbClr val="FFFFFF"/>
                          </a:solidFill>
                          <a:latin typeface="Arial" pitchFamily="34" charset="0"/>
                          <a:ea typeface="Arial" pitchFamily="34" charset="-122"/>
                          <a:cs typeface="Arial" pitchFamily="34" charset="-120"/>
                        </a:rPr>
                        <a:t>-18pts NPS Drop</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THE AI DILEMMA</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Why Generic LLM Chatbots Fail in Commercial Aviation</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The Dangerous Legal &amp; Fiscal Liability of Conversational Fluency Without Deterministic Authority</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5303520" cy="1325880"/>
          </a:xfrm>
          <a:prstGeom prst="roundRect">
            <a:avLst>
              <a:gd name="adj" fmla="val 5517"/>
            </a:avLst>
          </a:prstGeom>
          <a:solidFill>
            <a:srgbClr val="1E293B"/>
          </a:solidFill>
          <a:ln w="12700">
            <a:solidFill>
              <a:srgbClr val="334155"/>
            </a:solidFill>
            <a:prstDash val="solid"/>
          </a:ln>
        </p:spPr>
      </p:sp>
      <p:sp>
        <p:nvSpPr>
          <p:cNvPr id="10" name="Text 8"/>
          <p:cNvSpPr/>
          <p:nvPr/>
        </p:nvSpPr>
        <p:spPr>
          <a:xfrm>
            <a:off x="731520" y="1783080"/>
            <a:ext cx="49377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The Air Canada Chatbot Precedent</a:t>
            </a:r>
            <a:endParaRPr lang="en-US" sz="1200" dirty="0"/>
          </a:p>
        </p:txBody>
      </p:sp>
      <p:sp>
        <p:nvSpPr>
          <p:cNvPr id="11" name="Text 9"/>
          <p:cNvSpPr/>
          <p:nvPr/>
        </p:nvSpPr>
        <p:spPr>
          <a:xfrm>
            <a:off x="731520" y="210312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Civil tribunals established that airlines are legally liable for whatever an AI chatbot states. When an LLM promises bereavement discounts or free upgrades, the airline must honor it.</a:t>
            </a:r>
            <a:endParaRPr lang="en-US" sz="1050" dirty="0"/>
          </a:p>
        </p:txBody>
      </p:sp>
      <p:sp>
        <p:nvSpPr>
          <p:cNvPr id="12" name="Shape 10"/>
          <p:cNvSpPr/>
          <p:nvPr/>
        </p:nvSpPr>
        <p:spPr>
          <a:xfrm>
            <a:off x="548640" y="3108960"/>
            <a:ext cx="5303520" cy="1325880"/>
          </a:xfrm>
          <a:prstGeom prst="roundRect">
            <a:avLst>
              <a:gd name="adj" fmla="val 5517"/>
            </a:avLst>
          </a:prstGeom>
          <a:solidFill>
            <a:srgbClr val="1E293B"/>
          </a:solidFill>
          <a:ln w="12700">
            <a:solidFill>
              <a:srgbClr val="334155"/>
            </a:solidFill>
            <a:prstDash val="solid"/>
          </a:ln>
        </p:spPr>
      </p:sp>
      <p:sp>
        <p:nvSpPr>
          <p:cNvPr id="13" name="Text 11"/>
          <p:cNvSpPr/>
          <p:nvPr/>
        </p:nvSpPr>
        <p:spPr>
          <a:xfrm>
            <a:off x="731520" y="3246120"/>
            <a:ext cx="49377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The "Unaffected Return Leg" Hallucination</a:t>
            </a:r>
            <a:endParaRPr lang="en-US" sz="1200" dirty="0"/>
          </a:p>
        </p:txBody>
      </p:sp>
      <p:sp>
        <p:nvSpPr>
          <p:cNvPr id="14" name="Text 12"/>
          <p:cNvSpPr/>
          <p:nvPr/>
        </p:nvSpPr>
        <p:spPr>
          <a:xfrm>
            <a:off x="731520" y="356616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When outbound flight SK-204 is cancelled, generic chatbots mistakenly offer free Business Class upgrades on the unaffected return leg SK-205, causing severe revenue loss.</a:t>
            </a:r>
            <a:endParaRPr lang="en-US" sz="1050" dirty="0"/>
          </a:p>
        </p:txBody>
      </p:sp>
      <p:sp>
        <p:nvSpPr>
          <p:cNvPr id="15" name="Shape 13"/>
          <p:cNvSpPr/>
          <p:nvPr/>
        </p:nvSpPr>
        <p:spPr>
          <a:xfrm>
            <a:off x="548640" y="4572000"/>
            <a:ext cx="5303520" cy="1325880"/>
          </a:xfrm>
          <a:prstGeom prst="roundRect">
            <a:avLst>
              <a:gd name="adj" fmla="val 5517"/>
            </a:avLst>
          </a:prstGeom>
          <a:solidFill>
            <a:srgbClr val="1E293B"/>
          </a:solidFill>
          <a:ln w="12700">
            <a:solidFill>
              <a:srgbClr val="334155"/>
            </a:solidFill>
            <a:prstDash val="solid"/>
          </a:ln>
        </p:spPr>
      </p:sp>
      <p:sp>
        <p:nvSpPr>
          <p:cNvPr id="16" name="Text 14"/>
          <p:cNvSpPr/>
          <p:nvPr/>
        </p:nvSpPr>
        <p:spPr>
          <a:xfrm>
            <a:off x="731520" y="4709160"/>
            <a:ext cx="49377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Delay Threshold Incoherence</a:t>
            </a:r>
            <a:endParaRPr lang="en-US" sz="1200" dirty="0"/>
          </a:p>
        </p:txBody>
      </p:sp>
      <p:sp>
        <p:nvSpPr>
          <p:cNvPr id="17" name="Text 15"/>
          <p:cNvSpPr/>
          <p:nvPr/>
        </p:nvSpPr>
        <p:spPr>
          <a:xfrm>
            <a:off x="731520" y="502920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Generic models fail numerical boundary conditions (e.g. Arvind on 4-hour delay gets lounge/meals, but NEVER hotel rooms, which strictly mandate &gt;5 hours).</a:t>
            </a:r>
            <a:endParaRPr lang="en-US" sz="1050" dirty="0"/>
          </a:p>
        </p:txBody>
      </p:sp>
      <p:sp>
        <p:nvSpPr>
          <p:cNvPr id="18" name="Shape 16"/>
          <p:cNvSpPr/>
          <p:nvPr/>
        </p:nvSpPr>
        <p:spPr>
          <a:xfrm>
            <a:off x="6126480" y="1645920"/>
            <a:ext cx="5486400" cy="4526280"/>
          </a:xfrm>
          <a:prstGeom prst="roundRect">
            <a:avLst>
              <a:gd name="adj" fmla="val 1616"/>
            </a:avLst>
          </a:prstGeom>
          <a:solidFill>
            <a:srgbClr val="131C31"/>
          </a:solidFill>
          <a:ln w="12700">
            <a:solidFill>
              <a:srgbClr val="475569"/>
            </a:solidFill>
            <a:prstDash val="solid"/>
          </a:ln>
        </p:spPr>
      </p:sp>
      <p:sp>
        <p:nvSpPr>
          <p:cNvPr id="19" name="Text 17"/>
          <p:cNvSpPr/>
          <p:nvPr/>
        </p:nvSpPr>
        <p:spPr>
          <a:xfrm>
            <a:off x="6309360" y="1828800"/>
            <a:ext cx="5120640" cy="320040"/>
          </a:xfrm>
          <a:prstGeom prst="rect">
            <a:avLst/>
          </a:prstGeom>
          <a:noFill/>
          <a:ln/>
        </p:spPr>
        <p:txBody>
          <a:bodyPr wrap="square" rtlCol="0" anchor="ctr"/>
          <a:lstStyle/>
          <a:p>
            <a:pPr indent="0" marL="0">
              <a:buNone/>
            </a:pPr>
            <a:r>
              <a:rPr lang="en-US" sz="1100" b="1" dirty="0">
                <a:solidFill>
                  <a:srgbClr val="38BDF8"/>
                </a:solidFill>
                <a:latin typeface="Courier New" pitchFamily="34" charset="0"/>
                <a:ea typeface="Courier New" pitchFamily="34" charset="-122"/>
                <a:cs typeface="Courier New" pitchFamily="34" charset="-120"/>
              </a:rPr>
              <a:t>AUDIT COMPARISON // GENERIC LLM VS AIONOS AIR</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9360" y="2240280"/>
          <a:ext cx="5120640" cy="914400"/>
        </p:xfrm>
        <a:graphic>
          <a:graphicData uri="http://schemas.openxmlformats.org/drawingml/2006/table">
            <a:tbl>
              <a:tblPr/>
              <a:tblGrid>
                <a:gridCol w="1645920"/>
                <a:gridCol w="1737360"/>
                <a:gridCol w="1737360"/>
              </a:tblGrid>
              <a:tr h="731520">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Disruption Scenario</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Generic LLM Chatbot</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AIONOS AIR Engine</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31520">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Cancelled Outbound Leg (Priya Nair)</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Upgrades return flight arbitrarily [HALLUCINATION]</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Strictly isolates remedy to disrupted flight leg only [SAFE]</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31520">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4-Hour Delay (Arvind Kulkarni)</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Promises hotel room [POLICY VIOLATION]</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Enforces &gt;5h limit; provides meal &amp; lounge vouchers [SAFE]</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31520">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₹2,000 Waiver Request (Meher Kaur)</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Waives full amount without authorization [LEAKAGE]</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Caps at ₹1,500; creates #ESC-7421 supervisor ticket [HITL]</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31520">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Legal &amp; Audit Trail</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Zero cryptographic trace; high dispute risk</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50" dirty="0">
                          <a:solidFill>
                            <a:srgbClr val="FFFFFF"/>
                          </a:solidFill>
                          <a:latin typeface="Arial" pitchFamily="34" charset="0"/>
                          <a:ea typeface="Arial" pitchFamily="34" charset="-122"/>
                          <a:cs typeface="Arial" pitchFamily="34" charset="-120"/>
                        </a:rPr>
                        <a:t>Microsecond immutable audit ledger; DGCA-ready</a:t>
                      </a:r>
                      <a:endParaRPr lang="en-US" sz="8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THE SOLUTION</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AIONOS AIR Architecture: Autonomous Policy Authority</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Dual-Engine Neural &amp; Deterministic Control Tower with Real-Time PNR Grounding</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11091672" cy="1051560"/>
          </a:xfrm>
          <a:prstGeom prst="roundRect">
            <a:avLst>
              <a:gd name="adj" fmla="val 6957"/>
            </a:avLst>
          </a:prstGeom>
          <a:solidFill>
            <a:srgbClr val="1E293B"/>
          </a:solidFill>
          <a:ln w="19050">
            <a:solidFill>
              <a:srgbClr val="0284C7"/>
            </a:solidFill>
            <a:prstDash val="solid"/>
          </a:ln>
        </p:spPr>
      </p:sp>
      <p:sp>
        <p:nvSpPr>
          <p:cNvPr id="10" name="Text 8"/>
          <p:cNvSpPr/>
          <p:nvPr/>
        </p:nvSpPr>
        <p:spPr>
          <a:xfrm>
            <a:off x="731520" y="1755648"/>
            <a:ext cx="7772400" cy="274320"/>
          </a:xfrm>
          <a:prstGeom prst="rect">
            <a:avLst/>
          </a:prstGeom>
          <a:noFill/>
          <a:ln/>
        </p:spPr>
        <p:txBody>
          <a:bodyPr wrap="square" rtlCol="0" anchor="ctr"/>
          <a:lstStyle/>
          <a:p>
            <a:pPr indent="0" marL="0">
              <a:buNone/>
            </a:pPr>
            <a:r>
              <a:rPr lang="en-US" sz="1200" b="1" dirty="0">
                <a:solidFill>
                  <a:srgbClr val="0284C7"/>
                </a:solidFill>
                <a:latin typeface="Arial" pitchFamily="34" charset="0"/>
                <a:ea typeface="Arial" pitchFamily="34" charset="-122"/>
                <a:cs typeface="Arial" pitchFamily="34" charset="-120"/>
              </a:rPr>
              <a:t>TIER 1: PASSENGER &amp; GDS STATE MACHINE</a:t>
            </a:r>
            <a:endParaRPr lang="en-US" sz="1200" dirty="0"/>
          </a:p>
        </p:txBody>
      </p:sp>
      <p:sp>
        <p:nvSpPr>
          <p:cNvPr id="11" name="Text 9"/>
          <p:cNvSpPr/>
          <p:nvPr/>
        </p:nvSpPr>
        <p:spPr>
          <a:xfrm>
            <a:off x="8686800" y="1755648"/>
            <a:ext cx="2743200" cy="256032"/>
          </a:xfrm>
          <a:prstGeom prst="rect">
            <a:avLst/>
          </a:prstGeom>
          <a:noFill/>
          <a:ln/>
        </p:spPr>
        <p:txBody>
          <a:bodyPr wrap="square" rtlCol="0" anchor="ctr"/>
          <a:lstStyle/>
          <a:p>
            <a:pPr algn="r" indent="0" marL="0">
              <a:buNone/>
            </a:pPr>
            <a:r>
              <a:rPr lang="en-US" sz="900" b="1" dirty="0">
                <a:solidFill>
                  <a:srgbClr val="0284C7"/>
                </a:solidFill>
                <a:latin typeface="Courier New" pitchFamily="34" charset="0"/>
                <a:ea typeface="Courier New" pitchFamily="34" charset="-122"/>
                <a:cs typeface="Courier New" pitchFamily="34" charset="-120"/>
              </a:rPr>
              <a:t>LIVE PNR TELEMETRY</a:t>
            </a:r>
            <a:endParaRPr lang="en-US" sz="900" dirty="0"/>
          </a:p>
        </p:txBody>
      </p:sp>
      <p:sp>
        <p:nvSpPr>
          <p:cNvPr id="12" name="Text 10"/>
          <p:cNvSpPr/>
          <p:nvPr/>
        </p:nvSpPr>
        <p:spPr>
          <a:xfrm>
            <a:off x="731520" y="2057400"/>
            <a:ext cx="10515600" cy="548640"/>
          </a:xfrm>
          <a:prstGeom prst="rect">
            <a:avLst/>
          </a:prstGeom>
          <a:noFill/>
          <a:ln/>
        </p:spPr>
        <p:txBody>
          <a:bodyPr wrap="square" rtlCol="0" anchor="ctr"/>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Binds session directly to verified PNR records, loyalty tiers (Gold/Silver/Platinum), disrupted flight segments, and unaffected return legs.</a:t>
            </a:r>
            <a:endParaRPr lang="en-US" sz="1100" dirty="0"/>
          </a:p>
        </p:txBody>
      </p:sp>
      <p:sp>
        <p:nvSpPr>
          <p:cNvPr id="13" name="Shape 11"/>
          <p:cNvSpPr/>
          <p:nvPr/>
        </p:nvSpPr>
        <p:spPr>
          <a:xfrm>
            <a:off x="548640" y="2788920"/>
            <a:ext cx="11091672" cy="1051560"/>
          </a:xfrm>
          <a:prstGeom prst="roundRect">
            <a:avLst>
              <a:gd name="adj" fmla="val 6957"/>
            </a:avLst>
          </a:prstGeom>
          <a:solidFill>
            <a:srgbClr val="1E293B"/>
          </a:solidFill>
          <a:ln w="19050">
            <a:solidFill>
              <a:srgbClr val="F59E0B"/>
            </a:solidFill>
            <a:prstDash val="solid"/>
          </a:ln>
        </p:spPr>
      </p:sp>
      <p:sp>
        <p:nvSpPr>
          <p:cNvPr id="14" name="Text 12"/>
          <p:cNvSpPr/>
          <p:nvPr/>
        </p:nvSpPr>
        <p:spPr>
          <a:xfrm>
            <a:off x="731520" y="2898648"/>
            <a:ext cx="7772400" cy="27432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TIER 2: DETERMINISTIC POLICY ENGINE</a:t>
            </a:r>
            <a:endParaRPr lang="en-US" sz="1200" dirty="0"/>
          </a:p>
        </p:txBody>
      </p:sp>
      <p:sp>
        <p:nvSpPr>
          <p:cNvPr id="15" name="Text 13"/>
          <p:cNvSpPr/>
          <p:nvPr/>
        </p:nvSpPr>
        <p:spPr>
          <a:xfrm>
            <a:off x="8686800" y="2898648"/>
            <a:ext cx="2743200" cy="256032"/>
          </a:xfrm>
          <a:prstGeom prst="rect">
            <a:avLst/>
          </a:prstGeom>
          <a:noFill/>
          <a:ln/>
        </p:spPr>
        <p:txBody>
          <a:bodyPr wrap="square" rtlCol="0" anchor="ctr"/>
          <a:lstStyle/>
          <a:p>
            <a:pPr algn="r" indent="0" marL="0">
              <a:buNone/>
            </a:pPr>
            <a:r>
              <a:rPr lang="en-US" sz="900" b="1" dirty="0">
                <a:solidFill>
                  <a:srgbClr val="F59E0B"/>
                </a:solidFill>
                <a:latin typeface="Courier New" pitchFamily="34" charset="0"/>
                <a:ea typeface="Courier New" pitchFamily="34" charset="-122"/>
                <a:cs typeface="Courier New" pitchFamily="34" charset="-120"/>
              </a:rPr>
              <a:t>ZERO-HALLUCINATION GUARD</a:t>
            </a:r>
            <a:endParaRPr lang="en-US" sz="900" dirty="0"/>
          </a:p>
        </p:txBody>
      </p:sp>
      <p:sp>
        <p:nvSpPr>
          <p:cNvPr id="16" name="Text 14"/>
          <p:cNvSpPr/>
          <p:nvPr/>
        </p:nvSpPr>
        <p:spPr>
          <a:xfrm>
            <a:off x="731520" y="3200400"/>
            <a:ext cx="10515600" cy="548640"/>
          </a:xfrm>
          <a:prstGeom prst="rect">
            <a:avLst/>
          </a:prstGeom>
          <a:noFill/>
          <a:ln/>
        </p:spPr>
        <p:txBody>
          <a:bodyPr wrap="square" rtlCol="0" anchor="ctr"/>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Mathematical evaluation of airline operational manuals. Hardcoded rules enforce delay tiers (&lt;3h, 3-5h, &gt;5h), cancellation rebooking, and ₹1,500 waiver caps.</a:t>
            </a:r>
            <a:endParaRPr lang="en-US" sz="1100" dirty="0"/>
          </a:p>
        </p:txBody>
      </p:sp>
      <p:sp>
        <p:nvSpPr>
          <p:cNvPr id="17" name="Shape 15"/>
          <p:cNvSpPr/>
          <p:nvPr/>
        </p:nvSpPr>
        <p:spPr>
          <a:xfrm>
            <a:off x="548640" y="3931920"/>
            <a:ext cx="11091672" cy="1051560"/>
          </a:xfrm>
          <a:prstGeom prst="roundRect">
            <a:avLst>
              <a:gd name="adj" fmla="val 6957"/>
            </a:avLst>
          </a:prstGeom>
          <a:solidFill>
            <a:srgbClr val="1E293B"/>
          </a:solidFill>
          <a:ln w="19050">
            <a:solidFill>
              <a:srgbClr val="38BDF8"/>
            </a:solidFill>
            <a:prstDash val="solid"/>
          </a:ln>
        </p:spPr>
      </p:sp>
      <p:sp>
        <p:nvSpPr>
          <p:cNvPr id="18" name="Text 16"/>
          <p:cNvSpPr/>
          <p:nvPr/>
        </p:nvSpPr>
        <p:spPr>
          <a:xfrm>
            <a:off x="731520" y="4041648"/>
            <a:ext cx="7772400" cy="27432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TIER 3: DUAL-ENGINE NEURAL REASONING</a:t>
            </a:r>
            <a:endParaRPr lang="en-US" sz="1200" dirty="0"/>
          </a:p>
        </p:txBody>
      </p:sp>
      <p:sp>
        <p:nvSpPr>
          <p:cNvPr id="19" name="Text 17"/>
          <p:cNvSpPr/>
          <p:nvPr/>
        </p:nvSpPr>
        <p:spPr>
          <a:xfrm>
            <a:off x="8686800" y="4041648"/>
            <a:ext cx="2743200" cy="256032"/>
          </a:xfrm>
          <a:prstGeom prst="rect">
            <a:avLst/>
          </a:prstGeom>
          <a:noFill/>
          <a:ln/>
        </p:spPr>
        <p:txBody>
          <a:bodyPr wrap="square" rtlCol="0" anchor="ctr"/>
          <a:lstStyle/>
          <a:p>
            <a:pPr algn="r" indent="0" marL="0">
              <a:buNone/>
            </a:pPr>
            <a:r>
              <a:rPr lang="en-US" sz="900" b="1" dirty="0">
                <a:solidFill>
                  <a:srgbClr val="38BDF8"/>
                </a:solidFill>
                <a:latin typeface="Courier New" pitchFamily="34" charset="0"/>
                <a:ea typeface="Courier New" pitchFamily="34" charset="-122"/>
                <a:cs typeface="Courier New" pitchFamily="34" charset="-120"/>
              </a:rPr>
              <a:t>GROUNDED REASONING</a:t>
            </a:r>
            <a:endParaRPr lang="en-US" sz="900" dirty="0"/>
          </a:p>
        </p:txBody>
      </p:sp>
      <p:sp>
        <p:nvSpPr>
          <p:cNvPr id="20" name="Text 18"/>
          <p:cNvSpPr/>
          <p:nvPr/>
        </p:nvSpPr>
        <p:spPr>
          <a:xfrm>
            <a:off x="731520" y="4343400"/>
            <a:ext cx="10515600" cy="548640"/>
          </a:xfrm>
          <a:prstGeom prst="rect">
            <a:avLst/>
          </a:prstGeom>
          <a:noFill/>
          <a:ln/>
        </p:spPr>
        <p:txBody>
          <a:bodyPr wrap="square" rtlCol="0" anchor="ctr"/>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Gemini 3.6 Flash dynamically generates empathetic, policy-compliant dialogue strictly constrained by the Deterministic Policy Engine.</a:t>
            </a:r>
            <a:endParaRPr lang="en-US" sz="1100" dirty="0"/>
          </a:p>
        </p:txBody>
      </p:sp>
      <p:sp>
        <p:nvSpPr>
          <p:cNvPr id="21" name="Shape 19"/>
          <p:cNvSpPr/>
          <p:nvPr/>
        </p:nvSpPr>
        <p:spPr>
          <a:xfrm>
            <a:off x="548640" y="5074920"/>
            <a:ext cx="11091672" cy="1051560"/>
          </a:xfrm>
          <a:prstGeom prst="roundRect">
            <a:avLst>
              <a:gd name="adj" fmla="val 6957"/>
            </a:avLst>
          </a:prstGeom>
          <a:solidFill>
            <a:srgbClr val="1E293B"/>
          </a:solidFill>
          <a:ln w="19050">
            <a:solidFill>
              <a:srgbClr val="10B981"/>
            </a:solidFill>
            <a:prstDash val="solid"/>
          </a:ln>
        </p:spPr>
      </p:sp>
      <p:sp>
        <p:nvSpPr>
          <p:cNvPr id="22" name="Text 20"/>
          <p:cNvSpPr/>
          <p:nvPr/>
        </p:nvSpPr>
        <p:spPr>
          <a:xfrm>
            <a:off x="731520" y="5184648"/>
            <a:ext cx="7772400" cy="27432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TIER 4: AUTONOMOUS ACTION DISPATCH</a:t>
            </a:r>
            <a:endParaRPr lang="en-US" sz="1200" dirty="0"/>
          </a:p>
        </p:txBody>
      </p:sp>
      <p:sp>
        <p:nvSpPr>
          <p:cNvPr id="23" name="Text 21"/>
          <p:cNvSpPr/>
          <p:nvPr/>
        </p:nvSpPr>
        <p:spPr>
          <a:xfrm>
            <a:off x="8686800" y="5184648"/>
            <a:ext cx="2743200" cy="256032"/>
          </a:xfrm>
          <a:prstGeom prst="rect">
            <a:avLst/>
          </a:prstGeom>
          <a:noFill/>
          <a:ln/>
        </p:spPr>
        <p:txBody>
          <a:bodyPr wrap="square" rtlCol="0" anchor="ctr"/>
          <a:lstStyle/>
          <a:p>
            <a:pPr algn="r" indent="0" marL="0">
              <a:buNone/>
            </a:pPr>
            <a:r>
              <a:rPr lang="en-US" sz="900" b="1" dirty="0">
                <a:solidFill>
                  <a:srgbClr val="10B981"/>
                </a:solidFill>
                <a:latin typeface="Courier New" pitchFamily="34" charset="0"/>
                <a:ea typeface="Courier New" pitchFamily="34" charset="-122"/>
                <a:cs typeface="Courier New" pitchFamily="34" charset="-120"/>
              </a:rPr>
              <a:t>DIRECT GDS EXECUTION</a:t>
            </a:r>
            <a:endParaRPr lang="en-US" sz="900" dirty="0"/>
          </a:p>
        </p:txBody>
      </p:sp>
      <p:sp>
        <p:nvSpPr>
          <p:cNvPr id="24" name="Text 22"/>
          <p:cNvSpPr/>
          <p:nvPr/>
        </p:nvSpPr>
        <p:spPr>
          <a:xfrm>
            <a:off x="731520" y="5486400"/>
            <a:ext cx="10515600" cy="548640"/>
          </a:xfrm>
          <a:prstGeom prst="rect">
            <a:avLst/>
          </a:prstGeom>
          <a:noFill/>
          <a:ln/>
        </p:spPr>
        <p:txBody>
          <a:bodyPr wrap="square" rtlCol="0" anchor="ctr"/>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One-click automated execution of Priority Rebooking (SK-208), 100% Refunds, Meal QR Codes, Lounge Passes, and Supervisor Escalation Tickets (#ESC-8119).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WHAT WE ARE DOING UNIQUE</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PRAG-A Deterministic Pipeline: The Core Innovation</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Perceive → Retrieve → Reason → Guardrail → Act: 100% Inspectable Cognitive Reasoning</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11091672" cy="822960"/>
          </a:xfrm>
          <a:prstGeom prst="roundRect">
            <a:avLst>
              <a:gd name="adj" fmla="val 8889"/>
            </a:avLst>
          </a:prstGeom>
          <a:solidFill>
            <a:srgbClr val="1E293B"/>
          </a:solidFill>
          <a:ln w="15240">
            <a:solidFill>
              <a:srgbClr val="0284C7"/>
            </a:solidFill>
            <a:prstDash val="solid"/>
          </a:ln>
        </p:spPr>
      </p:sp>
      <p:sp>
        <p:nvSpPr>
          <p:cNvPr id="10" name="Text 8"/>
          <p:cNvSpPr/>
          <p:nvPr/>
        </p:nvSpPr>
        <p:spPr>
          <a:xfrm>
            <a:off x="731520" y="1783080"/>
            <a:ext cx="2011680" cy="274320"/>
          </a:xfrm>
          <a:prstGeom prst="rect">
            <a:avLst/>
          </a:prstGeom>
          <a:noFill/>
          <a:ln/>
        </p:spPr>
        <p:txBody>
          <a:bodyPr wrap="square" rtlCol="0" anchor="ctr"/>
          <a:lstStyle/>
          <a:p>
            <a:pPr indent="0" marL="0">
              <a:buNone/>
            </a:pPr>
            <a:r>
              <a:rPr lang="en-US" sz="1200" b="1" dirty="0">
                <a:solidFill>
                  <a:srgbClr val="0284C7"/>
                </a:solidFill>
                <a:latin typeface="Courier New" pitchFamily="34" charset="0"/>
                <a:ea typeface="Courier New" pitchFamily="34" charset="-122"/>
                <a:cs typeface="Courier New" pitchFamily="34" charset="-120"/>
              </a:rPr>
              <a:t>1. PERCEIVE</a:t>
            </a:r>
            <a:endParaRPr lang="en-US" sz="1200" dirty="0"/>
          </a:p>
        </p:txBody>
      </p:sp>
      <p:sp>
        <p:nvSpPr>
          <p:cNvPr id="11" name="Text 9"/>
          <p:cNvSpPr/>
          <p:nvPr/>
        </p:nvSpPr>
        <p:spPr>
          <a:xfrm>
            <a:off x="2834640" y="1783080"/>
            <a:ext cx="34747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Deep Intent &amp; Temporal Extraction</a:t>
            </a:r>
            <a:endParaRPr lang="en-US" sz="1150" dirty="0"/>
          </a:p>
        </p:txBody>
      </p:sp>
      <p:sp>
        <p:nvSpPr>
          <p:cNvPr id="12" name="Text 10"/>
          <p:cNvSpPr/>
          <p:nvPr/>
        </p:nvSpPr>
        <p:spPr>
          <a:xfrm>
            <a:off x="6400800" y="1737360"/>
            <a:ext cx="5029200" cy="640080"/>
          </a:xfrm>
          <a:prstGeom prst="rect">
            <a:avLst/>
          </a:prstGeom>
          <a:noFill/>
          <a:ln/>
        </p:spPr>
        <p:txBody>
          <a:bodyPr wrap="square" rtlCol="0" anchor="ctr"/>
          <a:lstStyle/>
          <a:p>
            <a:pPr indent="0" marL="0">
              <a:lnSpc>
                <a:spcPct val="115000"/>
              </a:lnSpc>
              <a:buNone/>
            </a:pPr>
            <a:r>
              <a:rPr lang="en-US" sz="1000" dirty="0">
                <a:solidFill>
                  <a:srgbClr val="94A3B8"/>
                </a:solidFill>
                <a:latin typeface="Arial" pitchFamily="34" charset="0"/>
                <a:ea typeface="Arial" pitchFamily="34" charset="-122"/>
                <a:cs typeface="Arial" pitchFamily="34" charset="-120"/>
              </a:rPr>
              <a:t>Extracts customer intent, emotional urgency, temporal context (23 Sep 2026 IST), and specific remedy requests (cabin upgrade, hotel room, refund).</a:t>
            </a:r>
            <a:endParaRPr lang="en-US" sz="1000" dirty="0"/>
          </a:p>
        </p:txBody>
      </p:sp>
      <p:sp>
        <p:nvSpPr>
          <p:cNvPr id="13" name="Shape 11"/>
          <p:cNvSpPr/>
          <p:nvPr/>
        </p:nvSpPr>
        <p:spPr>
          <a:xfrm>
            <a:off x="548640" y="2560320"/>
            <a:ext cx="11091672" cy="822960"/>
          </a:xfrm>
          <a:prstGeom prst="roundRect">
            <a:avLst>
              <a:gd name="adj" fmla="val 8889"/>
            </a:avLst>
          </a:prstGeom>
          <a:solidFill>
            <a:srgbClr val="1E293B"/>
          </a:solidFill>
          <a:ln w="15240">
            <a:solidFill>
              <a:srgbClr val="38BDF8"/>
            </a:solidFill>
            <a:prstDash val="solid"/>
          </a:ln>
        </p:spPr>
      </p:sp>
      <p:sp>
        <p:nvSpPr>
          <p:cNvPr id="14" name="Text 12"/>
          <p:cNvSpPr/>
          <p:nvPr/>
        </p:nvSpPr>
        <p:spPr>
          <a:xfrm>
            <a:off x="731520" y="2697480"/>
            <a:ext cx="2011680" cy="274320"/>
          </a:xfrm>
          <a:prstGeom prst="rect">
            <a:avLst/>
          </a:prstGeom>
          <a:noFill/>
          <a:ln/>
        </p:spPr>
        <p:txBody>
          <a:bodyPr wrap="square" rtlCol="0" anchor="ctr"/>
          <a:lstStyle/>
          <a:p>
            <a:pPr indent="0" marL="0">
              <a:buNone/>
            </a:pPr>
            <a:r>
              <a:rPr lang="en-US" sz="1200" b="1" dirty="0">
                <a:solidFill>
                  <a:srgbClr val="38BDF8"/>
                </a:solidFill>
                <a:latin typeface="Courier New" pitchFamily="34" charset="0"/>
                <a:ea typeface="Courier New" pitchFamily="34" charset="-122"/>
                <a:cs typeface="Courier New" pitchFamily="34" charset="-120"/>
              </a:rPr>
              <a:t>2. RETRIEVE</a:t>
            </a:r>
            <a:endParaRPr lang="en-US" sz="1200" dirty="0"/>
          </a:p>
        </p:txBody>
      </p:sp>
      <p:sp>
        <p:nvSpPr>
          <p:cNvPr id="15" name="Text 13"/>
          <p:cNvSpPr/>
          <p:nvPr/>
        </p:nvSpPr>
        <p:spPr>
          <a:xfrm>
            <a:off x="2834640" y="2697480"/>
            <a:ext cx="34747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Authoritative PNR &amp; Policy Clause Fetch</a:t>
            </a:r>
            <a:endParaRPr lang="en-US" sz="1150" dirty="0"/>
          </a:p>
        </p:txBody>
      </p:sp>
      <p:sp>
        <p:nvSpPr>
          <p:cNvPr id="16" name="Text 14"/>
          <p:cNvSpPr/>
          <p:nvPr/>
        </p:nvSpPr>
        <p:spPr>
          <a:xfrm>
            <a:off x="6400800" y="2651760"/>
            <a:ext cx="5029200" cy="640080"/>
          </a:xfrm>
          <a:prstGeom prst="rect">
            <a:avLst/>
          </a:prstGeom>
          <a:noFill/>
          <a:ln/>
        </p:spPr>
        <p:txBody>
          <a:bodyPr wrap="square" rtlCol="0" anchor="ctr"/>
          <a:lstStyle/>
          <a:p>
            <a:pPr indent="0" marL="0">
              <a:lnSpc>
                <a:spcPct val="115000"/>
              </a:lnSpc>
              <a:buNone/>
            </a:pPr>
            <a:r>
              <a:rPr lang="en-US" sz="1000" dirty="0">
                <a:solidFill>
                  <a:srgbClr val="94A3B8"/>
                </a:solidFill>
                <a:latin typeface="Arial" pitchFamily="34" charset="0"/>
                <a:ea typeface="Arial" pitchFamily="34" charset="-122"/>
                <a:cs typeface="Arial" pitchFamily="34" charset="-120"/>
              </a:rPr>
              <a:t>Binds PNR SK4821X and retrieves verified operational status of both outbound disrupted leg and return leg. Fetches relevant airline tariff clauses.</a:t>
            </a:r>
            <a:endParaRPr lang="en-US" sz="1000" dirty="0"/>
          </a:p>
        </p:txBody>
      </p:sp>
      <p:sp>
        <p:nvSpPr>
          <p:cNvPr id="17" name="Shape 15"/>
          <p:cNvSpPr/>
          <p:nvPr/>
        </p:nvSpPr>
        <p:spPr>
          <a:xfrm>
            <a:off x="548640" y="3474720"/>
            <a:ext cx="11091672" cy="822960"/>
          </a:xfrm>
          <a:prstGeom prst="roundRect">
            <a:avLst>
              <a:gd name="adj" fmla="val 8889"/>
            </a:avLst>
          </a:prstGeom>
          <a:solidFill>
            <a:srgbClr val="1E293B"/>
          </a:solidFill>
          <a:ln w="15240">
            <a:solidFill>
              <a:srgbClr val="F59E0B"/>
            </a:solidFill>
            <a:prstDash val="solid"/>
          </a:ln>
        </p:spPr>
      </p:sp>
      <p:sp>
        <p:nvSpPr>
          <p:cNvPr id="18" name="Text 16"/>
          <p:cNvSpPr/>
          <p:nvPr/>
        </p:nvSpPr>
        <p:spPr>
          <a:xfrm>
            <a:off x="731520" y="3611880"/>
            <a:ext cx="2011680" cy="274320"/>
          </a:xfrm>
          <a:prstGeom prst="rect">
            <a:avLst/>
          </a:prstGeom>
          <a:noFill/>
          <a:ln/>
        </p:spPr>
        <p:txBody>
          <a:bodyPr wrap="square" rtlCol="0" anchor="ctr"/>
          <a:lstStyle/>
          <a:p>
            <a:pPr indent="0" marL="0">
              <a:buNone/>
            </a:pPr>
            <a:r>
              <a:rPr lang="en-US" sz="1200" b="1" dirty="0">
                <a:solidFill>
                  <a:srgbClr val="F59E0B"/>
                </a:solidFill>
                <a:latin typeface="Courier New" pitchFamily="34" charset="0"/>
                <a:ea typeface="Courier New" pitchFamily="34" charset="-122"/>
                <a:cs typeface="Courier New" pitchFamily="34" charset="-120"/>
              </a:rPr>
              <a:t>3. REASON</a:t>
            </a:r>
            <a:endParaRPr lang="en-US" sz="1200" dirty="0"/>
          </a:p>
        </p:txBody>
      </p:sp>
      <p:sp>
        <p:nvSpPr>
          <p:cNvPr id="19" name="Text 17"/>
          <p:cNvSpPr/>
          <p:nvPr/>
        </p:nvSpPr>
        <p:spPr>
          <a:xfrm>
            <a:off x="2834640" y="3611880"/>
            <a:ext cx="34747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Algorithmic Threshold Evaluation</a:t>
            </a:r>
            <a:endParaRPr lang="en-US" sz="1150" dirty="0"/>
          </a:p>
        </p:txBody>
      </p:sp>
      <p:sp>
        <p:nvSpPr>
          <p:cNvPr id="20" name="Text 18"/>
          <p:cNvSpPr/>
          <p:nvPr/>
        </p:nvSpPr>
        <p:spPr>
          <a:xfrm>
            <a:off x="6400800" y="3566160"/>
            <a:ext cx="5029200" cy="640080"/>
          </a:xfrm>
          <a:prstGeom prst="rect">
            <a:avLst/>
          </a:prstGeom>
          <a:noFill/>
          <a:ln/>
        </p:spPr>
        <p:txBody>
          <a:bodyPr wrap="square" rtlCol="0" anchor="ctr"/>
          <a:lstStyle/>
          <a:p>
            <a:pPr indent="0" marL="0">
              <a:lnSpc>
                <a:spcPct val="115000"/>
              </a:lnSpc>
              <a:buNone/>
            </a:pPr>
            <a:r>
              <a:rPr lang="en-US" sz="1000" dirty="0">
                <a:solidFill>
                  <a:srgbClr val="94A3B8"/>
                </a:solidFill>
                <a:latin typeface="Arial" pitchFamily="34" charset="0"/>
                <a:ea typeface="Arial" pitchFamily="34" charset="-122"/>
                <a:cs typeface="Arial" pitchFamily="34" charset="-120"/>
              </a:rPr>
              <a:t>Computes exact arithmetic: 4-hour delay vs 5-hour hotel minimum; ₹2,000 waiver request vs ₹1,500 frontline discretionary cap.</a:t>
            </a:r>
            <a:endParaRPr lang="en-US" sz="1000" dirty="0"/>
          </a:p>
        </p:txBody>
      </p:sp>
      <p:sp>
        <p:nvSpPr>
          <p:cNvPr id="21" name="Shape 19"/>
          <p:cNvSpPr/>
          <p:nvPr/>
        </p:nvSpPr>
        <p:spPr>
          <a:xfrm>
            <a:off x="548640" y="4389120"/>
            <a:ext cx="11091672" cy="822960"/>
          </a:xfrm>
          <a:prstGeom prst="roundRect">
            <a:avLst>
              <a:gd name="adj" fmla="val 8889"/>
            </a:avLst>
          </a:prstGeom>
          <a:solidFill>
            <a:srgbClr val="1E293B"/>
          </a:solidFill>
          <a:ln w="15240">
            <a:solidFill>
              <a:srgbClr val="EF4444"/>
            </a:solidFill>
            <a:prstDash val="solid"/>
          </a:ln>
        </p:spPr>
      </p:sp>
      <p:sp>
        <p:nvSpPr>
          <p:cNvPr id="22" name="Text 20"/>
          <p:cNvSpPr/>
          <p:nvPr/>
        </p:nvSpPr>
        <p:spPr>
          <a:xfrm>
            <a:off x="731520" y="4526280"/>
            <a:ext cx="2011680" cy="274320"/>
          </a:xfrm>
          <a:prstGeom prst="rect">
            <a:avLst/>
          </a:prstGeom>
          <a:noFill/>
          <a:ln/>
        </p:spPr>
        <p:txBody>
          <a:bodyPr wrap="square" rtlCol="0" anchor="ctr"/>
          <a:lstStyle/>
          <a:p>
            <a:pPr indent="0" marL="0">
              <a:buNone/>
            </a:pPr>
            <a:r>
              <a:rPr lang="en-US" sz="1200" b="1" dirty="0">
                <a:solidFill>
                  <a:srgbClr val="EF4444"/>
                </a:solidFill>
                <a:latin typeface="Courier New" pitchFamily="34" charset="0"/>
                <a:ea typeface="Courier New" pitchFamily="34" charset="-122"/>
                <a:cs typeface="Courier New" pitchFamily="34" charset="-120"/>
              </a:rPr>
              <a:t>4. GUARDRAIL</a:t>
            </a:r>
            <a:endParaRPr lang="en-US" sz="1200" dirty="0"/>
          </a:p>
        </p:txBody>
      </p:sp>
      <p:sp>
        <p:nvSpPr>
          <p:cNvPr id="23" name="Text 21"/>
          <p:cNvSpPr/>
          <p:nvPr/>
        </p:nvSpPr>
        <p:spPr>
          <a:xfrm>
            <a:off x="2834640" y="4526280"/>
            <a:ext cx="34747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Strict Non-Negotiable Constraint Injection</a:t>
            </a:r>
            <a:endParaRPr lang="en-US" sz="1150" dirty="0"/>
          </a:p>
        </p:txBody>
      </p:sp>
      <p:sp>
        <p:nvSpPr>
          <p:cNvPr id="24" name="Text 22"/>
          <p:cNvSpPr/>
          <p:nvPr/>
        </p:nvSpPr>
        <p:spPr>
          <a:xfrm>
            <a:off x="6400800" y="4480560"/>
            <a:ext cx="5029200" cy="640080"/>
          </a:xfrm>
          <a:prstGeom prst="rect">
            <a:avLst/>
          </a:prstGeom>
          <a:noFill/>
          <a:ln/>
        </p:spPr>
        <p:txBody>
          <a:bodyPr wrap="square" rtlCol="0" anchor="ctr"/>
          <a:lstStyle/>
          <a:p>
            <a:pPr indent="0" marL="0">
              <a:lnSpc>
                <a:spcPct val="115000"/>
              </a:lnSpc>
              <a:buNone/>
            </a:pPr>
            <a:r>
              <a:rPr lang="en-US" sz="1000" dirty="0">
                <a:solidFill>
                  <a:srgbClr val="94A3B8"/>
                </a:solidFill>
                <a:latin typeface="Arial" pitchFamily="34" charset="0"/>
                <a:ea typeface="Arial" pitchFamily="34" charset="-122"/>
                <a:cs typeface="Arial" pitchFamily="34" charset="-120"/>
              </a:rPr>
              <a:t>Hardcoded filter blocks out-of-policy claims. Return flight isolation enforced; unauthorized cabin upgrades strictly prohibited.</a:t>
            </a:r>
            <a:endParaRPr lang="en-US" sz="1000" dirty="0"/>
          </a:p>
        </p:txBody>
      </p:sp>
      <p:sp>
        <p:nvSpPr>
          <p:cNvPr id="25" name="Shape 23"/>
          <p:cNvSpPr/>
          <p:nvPr/>
        </p:nvSpPr>
        <p:spPr>
          <a:xfrm>
            <a:off x="548640" y="5303520"/>
            <a:ext cx="11091672" cy="822960"/>
          </a:xfrm>
          <a:prstGeom prst="roundRect">
            <a:avLst>
              <a:gd name="adj" fmla="val 8889"/>
            </a:avLst>
          </a:prstGeom>
          <a:solidFill>
            <a:srgbClr val="1E293B"/>
          </a:solidFill>
          <a:ln w="15240">
            <a:solidFill>
              <a:srgbClr val="10B981"/>
            </a:solidFill>
            <a:prstDash val="solid"/>
          </a:ln>
        </p:spPr>
      </p:sp>
      <p:sp>
        <p:nvSpPr>
          <p:cNvPr id="26" name="Text 24"/>
          <p:cNvSpPr/>
          <p:nvPr/>
        </p:nvSpPr>
        <p:spPr>
          <a:xfrm>
            <a:off x="731520" y="5440680"/>
            <a:ext cx="2011680" cy="27432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5. ACT</a:t>
            </a:r>
            <a:endParaRPr lang="en-US" sz="1200" dirty="0"/>
          </a:p>
        </p:txBody>
      </p:sp>
      <p:sp>
        <p:nvSpPr>
          <p:cNvPr id="27" name="Text 25"/>
          <p:cNvSpPr/>
          <p:nvPr/>
        </p:nvSpPr>
        <p:spPr>
          <a:xfrm>
            <a:off x="2834640" y="5440680"/>
            <a:ext cx="34747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Empathetic Reply &amp; Autonomous Action Gating</a:t>
            </a:r>
            <a:endParaRPr lang="en-US" sz="1150" dirty="0"/>
          </a:p>
        </p:txBody>
      </p:sp>
      <p:sp>
        <p:nvSpPr>
          <p:cNvPr id="28" name="Text 26"/>
          <p:cNvSpPr/>
          <p:nvPr/>
        </p:nvSpPr>
        <p:spPr>
          <a:xfrm>
            <a:off x="6400800" y="5394960"/>
            <a:ext cx="5029200" cy="640080"/>
          </a:xfrm>
          <a:prstGeom prst="rect">
            <a:avLst/>
          </a:prstGeom>
          <a:noFill/>
          <a:ln/>
        </p:spPr>
        <p:txBody>
          <a:bodyPr wrap="square" rtlCol="0" anchor="ctr"/>
          <a:lstStyle/>
          <a:p>
            <a:pPr indent="0" marL="0">
              <a:lnSpc>
                <a:spcPct val="115000"/>
              </a:lnSpc>
              <a:buNone/>
            </a:pPr>
            <a:r>
              <a:rPr lang="en-US" sz="1000" dirty="0">
                <a:solidFill>
                  <a:srgbClr val="94A3B8"/>
                </a:solidFill>
                <a:latin typeface="Arial" pitchFamily="34" charset="0"/>
                <a:ea typeface="Arial" pitchFamily="34" charset="-122"/>
                <a:cs typeface="Arial" pitchFamily="34" charset="-120"/>
              </a:rPr>
              <a:t>Emits certified safe conversational response and unlocks authorized one-click action buttons in the UI (Rebook, Refund, Lounge QR, HITL Ticket).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MULTI-PERSONA TESTBED</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Three Live Disruption Personas: Stress-Testing Edge Cases</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Demonstrating Deterministic Separation Across Loyalty Tiers, Delay Durations &amp; Policy Caps</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3566160" cy="4526280"/>
          </a:xfrm>
          <a:prstGeom prst="roundRect">
            <a:avLst>
              <a:gd name="adj" fmla="val 2051"/>
            </a:avLst>
          </a:prstGeom>
          <a:solidFill>
            <a:srgbClr val="1E293B"/>
          </a:solidFill>
          <a:ln w="19050">
            <a:solidFill>
              <a:srgbClr val="F59E0B"/>
            </a:solidFill>
            <a:prstDash val="solid"/>
          </a:ln>
        </p:spPr>
      </p:sp>
      <p:sp>
        <p:nvSpPr>
          <p:cNvPr id="10" name="Text 8"/>
          <p:cNvSpPr/>
          <p:nvPr/>
        </p:nvSpPr>
        <p:spPr>
          <a:xfrm>
            <a:off x="731520" y="1828800"/>
            <a:ext cx="21031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Priya Nair</a:t>
            </a:r>
            <a:endParaRPr lang="en-US" sz="1400" dirty="0"/>
          </a:p>
        </p:txBody>
      </p:sp>
      <p:sp>
        <p:nvSpPr>
          <p:cNvPr id="11" name="Text 9"/>
          <p:cNvSpPr/>
          <p:nvPr/>
        </p:nvSpPr>
        <p:spPr>
          <a:xfrm>
            <a:off x="2743200" y="1847088"/>
            <a:ext cx="1188720" cy="274320"/>
          </a:xfrm>
          <a:prstGeom prst="rect">
            <a:avLst/>
          </a:prstGeom>
          <a:noFill/>
          <a:ln/>
        </p:spPr>
        <p:txBody>
          <a:bodyPr wrap="square" rtlCol="0" anchor="ctr"/>
          <a:lstStyle/>
          <a:p>
            <a:pPr algn="r" indent="0" marL="0">
              <a:buNone/>
            </a:pPr>
            <a:r>
              <a:rPr lang="en-US" sz="900" b="1" dirty="0">
                <a:solidFill>
                  <a:srgbClr val="F59E0B"/>
                </a:solidFill>
                <a:latin typeface="Courier New" pitchFamily="34" charset="0"/>
                <a:ea typeface="Courier New" pitchFamily="34" charset="-122"/>
                <a:cs typeface="Courier New" pitchFamily="34" charset="-120"/>
              </a:rPr>
              <a:t>GOLD TIER</a:t>
            </a:r>
            <a:endParaRPr lang="en-US" sz="900" dirty="0"/>
          </a:p>
        </p:txBody>
      </p:sp>
      <p:sp>
        <p:nvSpPr>
          <p:cNvPr id="12" name="Text 10"/>
          <p:cNvSpPr/>
          <p:nvPr/>
        </p:nvSpPr>
        <p:spPr>
          <a:xfrm>
            <a:off x="731520" y="2148840"/>
            <a:ext cx="3200400" cy="228600"/>
          </a:xfrm>
          <a:prstGeom prst="rect">
            <a:avLst/>
          </a:prstGeom>
          <a:noFill/>
          <a:ln/>
        </p:spPr>
        <p:txBody>
          <a:bodyPr wrap="square"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PNR: SK4821X</a:t>
            </a:r>
            <a:endParaRPr lang="en-US" sz="1000" dirty="0"/>
          </a:p>
        </p:txBody>
      </p:sp>
      <p:sp>
        <p:nvSpPr>
          <p:cNvPr id="13" name="Text 11"/>
          <p:cNvSpPr/>
          <p:nvPr/>
        </p:nvSpPr>
        <p:spPr>
          <a:xfrm>
            <a:off x="731520" y="2423160"/>
            <a:ext cx="3200400" cy="457200"/>
          </a:xfrm>
          <a:prstGeom prst="rect">
            <a:avLst/>
          </a:prstGeom>
          <a:noFill/>
          <a:ln/>
        </p:spPr>
        <p:txBody>
          <a:bodyPr wrap="square" rtlCol="0" anchor="ctr"/>
          <a:lstStyle/>
          <a:p>
            <a:pPr indent="0" marL="0">
              <a:buNone/>
            </a:pPr>
            <a:r>
              <a:rPr lang="en-US" sz="1050" b="1" dirty="0">
                <a:solidFill>
                  <a:srgbClr val="EF4444"/>
                </a:solidFill>
                <a:latin typeface="Arial" pitchFamily="34" charset="0"/>
                <a:ea typeface="Arial" pitchFamily="34" charset="-122"/>
                <a:cs typeface="Arial" pitchFamily="34" charset="-120"/>
              </a:rPr>
              <a:t>Flight SK-204 (DEL → GOI) CANCELLED</a:t>
            </a:r>
            <a:endParaRPr lang="en-US" sz="1050" dirty="0"/>
          </a:p>
        </p:txBody>
      </p:sp>
      <p:sp>
        <p:nvSpPr>
          <p:cNvPr id="14" name="Text 12"/>
          <p:cNvSpPr/>
          <p:nvPr/>
        </p:nvSpPr>
        <p:spPr>
          <a:xfrm>
            <a:off x="731520" y="2926080"/>
            <a:ext cx="3200400" cy="411480"/>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Edge Case: Unaffected Return Flight Isolation</a:t>
            </a:r>
            <a:endParaRPr lang="en-US" sz="1000" dirty="0"/>
          </a:p>
        </p:txBody>
      </p:sp>
      <p:sp>
        <p:nvSpPr>
          <p:cNvPr id="15" name="Text 13"/>
          <p:cNvSpPr/>
          <p:nvPr/>
        </p:nvSpPr>
        <p:spPr>
          <a:xfrm>
            <a:off x="731520" y="342900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Outbound leg cancelled due to airline technical issue.</a:t>
            </a:r>
            <a:endParaRPr lang="en-US" sz="950" dirty="0"/>
          </a:p>
        </p:txBody>
      </p:sp>
      <p:sp>
        <p:nvSpPr>
          <p:cNvPr id="16" name="Text 14"/>
          <p:cNvSpPr/>
          <p:nvPr/>
        </p:nvSpPr>
        <p:spPr>
          <a:xfrm>
            <a:off x="731520" y="406908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Entitled to complimentary rebooking within 24h OR 100% full refund.</a:t>
            </a:r>
            <a:endParaRPr lang="en-US" sz="950" dirty="0"/>
          </a:p>
        </p:txBody>
      </p:sp>
      <p:sp>
        <p:nvSpPr>
          <p:cNvPr id="17" name="Text 15"/>
          <p:cNvSpPr/>
          <p:nvPr/>
        </p:nvSpPr>
        <p:spPr>
          <a:xfrm>
            <a:off x="731520" y="470916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Customer requests free upgrade on Friday return flight.</a:t>
            </a:r>
            <a:endParaRPr lang="en-US" sz="950" dirty="0"/>
          </a:p>
        </p:txBody>
      </p:sp>
      <p:sp>
        <p:nvSpPr>
          <p:cNvPr id="18" name="Text 16"/>
          <p:cNvSpPr/>
          <p:nvPr/>
        </p:nvSpPr>
        <p:spPr>
          <a:xfrm>
            <a:off x="731520" y="534924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AIONOS AIR: Free rebooking on SK-208 granted; upgrade on return leg blocked.</a:t>
            </a:r>
            <a:endParaRPr lang="en-US" sz="950" dirty="0"/>
          </a:p>
        </p:txBody>
      </p:sp>
      <p:sp>
        <p:nvSpPr>
          <p:cNvPr id="19" name="Shape 17"/>
          <p:cNvSpPr/>
          <p:nvPr/>
        </p:nvSpPr>
        <p:spPr>
          <a:xfrm>
            <a:off x="4297680" y="1645920"/>
            <a:ext cx="3566160" cy="4526280"/>
          </a:xfrm>
          <a:prstGeom prst="roundRect">
            <a:avLst>
              <a:gd name="adj" fmla="val 2051"/>
            </a:avLst>
          </a:prstGeom>
          <a:solidFill>
            <a:srgbClr val="1E293B"/>
          </a:solidFill>
          <a:ln w="19050">
            <a:solidFill>
              <a:srgbClr val="38BDF8"/>
            </a:solidFill>
            <a:prstDash val="solid"/>
          </a:ln>
        </p:spPr>
      </p:sp>
      <p:sp>
        <p:nvSpPr>
          <p:cNvPr id="20" name="Text 18"/>
          <p:cNvSpPr/>
          <p:nvPr/>
        </p:nvSpPr>
        <p:spPr>
          <a:xfrm>
            <a:off x="4480560" y="1828800"/>
            <a:ext cx="21031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Arvind Kulkarni</a:t>
            </a:r>
            <a:endParaRPr lang="en-US" sz="1400" dirty="0"/>
          </a:p>
        </p:txBody>
      </p:sp>
      <p:sp>
        <p:nvSpPr>
          <p:cNvPr id="21" name="Text 19"/>
          <p:cNvSpPr/>
          <p:nvPr/>
        </p:nvSpPr>
        <p:spPr>
          <a:xfrm>
            <a:off x="6492240" y="1847088"/>
            <a:ext cx="1188720" cy="274320"/>
          </a:xfrm>
          <a:prstGeom prst="rect">
            <a:avLst/>
          </a:prstGeom>
          <a:noFill/>
          <a:ln/>
        </p:spPr>
        <p:txBody>
          <a:bodyPr wrap="square" rtlCol="0" anchor="ctr"/>
          <a:lstStyle/>
          <a:p>
            <a:pPr algn="r" indent="0" marL="0">
              <a:buNone/>
            </a:pPr>
            <a:r>
              <a:rPr lang="en-US" sz="900" b="1" dirty="0">
                <a:solidFill>
                  <a:srgbClr val="38BDF8"/>
                </a:solidFill>
                <a:latin typeface="Courier New" pitchFamily="34" charset="0"/>
                <a:ea typeface="Courier New" pitchFamily="34" charset="-122"/>
                <a:cs typeface="Courier New" pitchFamily="34" charset="-120"/>
              </a:rPr>
              <a:t>SILVER TIER</a:t>
            </a:r>
            <a:endParaRPr lang="en-US" sz="900" dirty="0"/>
          </a:p>
        </p:txBody>
      </p:sp>
      <p:sp>
        <p:nvSpPr>
          <p:cNvPr id="22" name="Text 20"/>
          <p:cNvSpPr/>
          <p:nvPr/>
        </p:nvSpPr>
        <p:spPr>
          <a:xfrm>
            <a:off x="4480560" y="2148840"/>
            <a:ext cx="3200400" cy="228600"/>
          </a:xfrm>
          <a:prstGeom prst="rect">
            <a:avLst/>
          </a:prstGeom>
          <a:noFill/>
          <a:ln/>
        </p:spPr>
        <p:txBody>
          <a:bodyPr wrap="square"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PNR: TR1190B</a:t>
            </a:r>
            <a:endParaRPr lang="en-US" sz="1000" dirty="0"/>
          </a:p>
        </p:txBody>
      </p:sp>
      <p:sp>
        <p:nvSpPr>
          <p:cNvPr id="23" name="Text 21"/>
          <p:cNvSpPr/>
          <p:nvPr/>
        </p:nvSpPr>
        <p:spPr>
          <a:xfrm>
            <a:off x="4480560" y="2423160"/>
            <a:ext cx="3200400" cy="457200"/>
          </a:xfrm>
          <a:prstGeom prst="rect">
            <a:avLst/>
          </a:prstGeom>
          <a:noFill/>
          <a:ln/>
        </p:spPr>
        <p:txBody>
          <a:bodyPr wrap="square" rtlCol="0" anchor="ctr"/>
          <a:lstStyle/>
          <a:p>
            <a:pPr indent="0" marL="0">
              <a:buNone/>
            </a:pPr>
            <a:r>
              <a:rPr lang="en-US" sz="1050" b="1" dirty="0">
                <a:solidFill>
                  <a:srgbClr val="EF4444"/>
                </a:solidFill>
                <a:latin typeface="Arial" pitchFamily="34" charset="0"/>
                <a:ea typeface="Arial" pitchFamily="34" charset="-122"/>
                <a:cs typeface="Arial" pitchFamily="34" charset="-120"/>
              </a:rPr>
              <a:t>Flight SK-118 (BOM → BLR) DELAYED 4h</a:t>
            </a:r>
            <a:endParaRPr lang="en-US" sz="1050" dirty="0"/>
          </a:p>
        </p:txBody>
      </p:sp>
      <p:sp>
        <p:nvSpPr>
          <p:cNvPr id="24" name="Text 22"/>
          <p:cNvSpPr/>
          <p:nvPr/>
        </p:nvSpPr>
        <p:spPr>
          <a:xfrm>
            <a:off x="4480560" y="2926080"/>
            <a:ext cx="3200400" cy="411480"/>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Edge Case: 4-Hour Delay vs 5-Hour Hotel Threshold</a:t>
            </a:r>
            <a:endParaRPr lang="en-US" sz="1000" dirty="0"/>
          </a:p>
        </p:txBody>
      </p:sp>
      <p:sp>
        <p:nvSpPr>
          <p:cNvPr id="25" name="Text 23"/>
          <p:cNvSpPr/>
          <p:nvPr/>
        </p:nvSpPr>
        <p:spPr>
          <a:xfrm>
            <a:off x="4480560" y="342900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Flight delayed 4 hours due to runway congestion.</a:t>
            </a:r>
            <a:endParaRPr lang="en-US" sz="950" dirty="0"/>
          </a:p>
        </p:txBody>
      </p:sp>
      <p:sp>
        <p:nvSpPr>
          <p:cNvPr id="26" name="Text 24"/>
          <p:cNvSpPr/>
          <p:nvPr/>
        </p:nvSpPr>
        <p:spPr>
          <a:xfrm>
            <a:off x="4480560" y="406908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Eligible for meal voucher QR + departure lounge access.</a:t>
            </a:r>
            <a:endParaRPr lang="en-US" sz="950" dirty="0"/>
          </a:p>
        </p:txBody>
      </p:sp>
      <p:sp>
        <p:nvSpPr>
          <p:cNvPr id="27" name="Text 25"/>
          <p:cNvSpPr/>
          <p:nvPr/>
        </p:nvSpPr>
        <p:spPr>
          <a:xfrm>
            <a:off x="4480560" y="470916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Customer demands daytime hotel room accommodation.</a:t>
            </a:r>
            <a:endParaRPr lang="en-US" sz="950" dirty="0"/>
          </a:p>
        </p:txBody>
      </p:sp>
      <p:sp>
        <p:nvSpPr>
          <p:cNvPr id="28" name="Text 26"/>
          <p:cNvSpPr/>
          <p:nvPr/>
        </p:nvSpPr>
        <p:spPr>
          <a:xfrm>
            <a:off x="4480560" y="534924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AIONOS AIR: Vouchers issued; hotel declined (&lt;5h rule); #ESC-8119 ticket opened.</a:t>
            </a:r>
            <a:endParaRPr lang="en-US" sz="950" dirty="0"/>
          </a:p>
        </p:txBody>
      </p:sp>
      <p:sp>
        <p:nvSpPr>
          <p:cNvPr id="29" name="Shape 27"/>
          <p:cNvSpPr/>
          <p:nvPr/>
        </p:nvSpPr>
        <p:spPr>
          <a:xfrm>
            <a:off x="8046720" y="1645920"/>
            <a:ext cx="3566160" cy="4526280"/>
          </a:xfrm>
          <a:prstGeom prst="roundRect">
            <a:avLst>
              <a:gd name="adj" fmla="val 2051"/>
            </a:avLst>
          </a:prstGeom>
          <a:solidFill>
            <a:srgbClr val="1E293B"/>
          </a:solidFill>
          <a:ln w="19050">
            <a:solidFill>
              <a:srgbClr val="A855F7"/>
            </a:solidFill>
            <a:prstDash val="solid"/>
          </a:ln>
        </p:spPr>
      </p:sp>
      <p:sp>
        <p:nvSpPr>
          <p:cNvPr id="30" name="Text 28"/>
          <p:cNvSpPr/>
          <p:nvPr/>
        </p:nvSpPr>
        <p:spPr>
          <a:xfrm>
            <a:off x="8229600" y="1828800"/>
            <a:ext cx="21031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Meher Kaur</a:t>
            </a:r>
            <a:endParaRPr lang="en-US" sz="1400" dirty="0"/>
          </a:p>
        </p:txBody>
      </p:sp>
      <p:sp>
        <p:nvSpPr>
          <p:cNvPr id="31" name="Text 29"/>
          <p:cNvSpPr/>
          <p:nvPr/>
        </p:nvSpPr>
        <p:spPr>
          <a:xfrm>
            <a:off x="10241280" y="1847088"/>
            <a:ext cx="1188720" cy="274320"/>
          </a:xfrm>
          <a:prstGeom prst="rect">
            <a:avLst/>
          </a:prstGeom>
          <a:noFill/>
          <a:ln/>
        </p:spPr>
        <p:txBody>
          <a:bodyPr wrap="square" rtlCol="0" anchor="ctr"/>
          <a:lstStyle/>
          <a:p>
            <a:pPr algn="r" indent="0" marL="0">
              <a:buNone/>
            </a:pPr>
            <a:r>
              <a:rPr lang="en-US" sz="900" b="1" dirty="0">
                <a:solidFill>
                  <a:srgbClr val="A855F7"/>
                </a:solidFill>
                <a:latin typeface="Courier New" pitchFamily="34" charset="0"/>
                <a:ea typeface="Courier New" pitchFamily="34" charset="-122"/>
                <a:cs typeface="Courier New" pitchFamily="34" charset="-120"/>
              </a:rPr>
              <a:t>PLATINUM TIER</a:t>
            </a:r>
            <a:endParaRPr lang="en-US" sz="900" dirty="0"/>
          </a:p>
        </p:txBody>
      </p:sp>
      <p:sp>
        <p:nvSpPr>
          <p:cNvPr id="32" name="Text 30"/>
          <p:cNvSpPr/>
          <p:nvPr/>
        </p:nvSpPr>
        <p:spPr>
          <a:xfrm>
            <a:off x="8229600" y="2148840"/>
            <a:ext cx="3200400" cy="228600"/>
          </a:xfrm>
          <a:prstGeom prst="rect">
            <a:avLst/>
          </a:prstGeom>
          <a:noFill/>
          <a:ln/>
        </p:spPr>
        <p:txBody>
          <a:bodyPr wrap="square"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PNR: WL7742</a:t>
            </a:r>
            <a:endParaRPr lang="en-US" sz="1000" dirty="0"/>
          </a:p>
        </p:txBody>
      </p:sp>
      <p:sp>
        <p:nvSpPr>
          <p:cNvPr id="33" name="Text 31"/>
          <p:cNvSpPr/>
          <p:nvPr/>
        </p:nvSpPr>
        <p:spPr>
          <a:xfrm>
            <a:off x="8229600" y="2423160"/>
            <a:ext cx="3200400" cy="457200"/>
          </a:xfrm>
          <a:prstGeom prst="rect">
            <a:avLst/>
          </a:prstGeom>
          <a:noFill/>
          <a:ln/>
        </p:spPr>
        <p:txBody>
          <a:bodyPr wrap="square" rtlCol="0" anchor="ctr"/>
          <a:lstStyle/>
          <a:p>
            <a:pPr indent="0" marL="0">
              <a:buNone/>
            </a:pPr>
            <a:r>
              <a:rPr lang="en-US" sz="1050" b="1" dirty="0">
                <a:solidFill>
                  <a:srgbClr val="EF4444"/>
                </a:solidFill>
                <a:latin typeface="Arial" pitchFamily="34" charset="0"/>
                <a:ea typeface="Arial" pitchFamily="34" charset="-122"/>
                <a:cs typeface="Arial" pitchFamily="34" charset="-120"/>
              </a:rPr>
              <a:t>Flight SK-305 (DEL → HYD) DELAYED 6h</a:t>
            </a:r>
            <a:endParaRPr lang="en-US" sz="1050" dirty="0"/>
          </a:p>
        </p:txBody>
      </p:sp>
      <p:sp>
        <p:nvSpPr>
          <p:cNvPr id="34" name="Text 32"/>
          <p:cNvSpPr/>
          <p:nvPr/>
        </p:nvSpPr>
        <p:spPr>
          <a:xfrm>
            <a:off x="8229600" y="2926080"/>
            <a:ext cx="3200400" cy="411480"/>
          </a:xfrm>
          <a:prstGeom prst="rect">
            <a:avLst/>
          </a:prstGeom>
          <a:noFill/>
          <a:ln/>
        </p:spPr>
        <p:txBody>
          <a:bodyPr wrap="square" rtlCol="0" anchor="ctr"/>
          <a:lstStyle/>
          <a:p>
            <a:pPr indent="0" marL="0">
              <a:buNone/>
            </a:pPr>
            <a:r>
              <a:rPr lang="en-US" sz="1000" b="1" i="1" dirty="0">
                <a:solidFill>
                  <a:srgbClr val="38BDF8"/>
                </a:solidFill>
                <a:latin typeface="Arial" pitchFamily="34" charset="0"/>
                <a:ea typeface="Arial" pitchFamily="34" charset="-122"/>
                <a:cs typeface="Arial" pitchFamily="34" charset="-120"/>
              </a:rPr>
              <a:t>Edge Case: ₹1,500 Frontline Fare Waiver Limit</a:t>
            </a:r>
            <a:endParaRPr lang="en-US" sz="1000" dirty="0"/>
          </a:p>
        </p:txBody>
      </p:sp>
      <p:sp>
        <p:nvSpPr>
          <p:cNvPr id="35" name="Text 33"/>
          <p:cNvSpPr/>
          <p:nvPr/>
        </p:nvSpPr>
        <p:spPr>
          <a:xfrm>
            <a:off x="8229600" y="342900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Flight delayed 6 hours into evening hours.</a:t>
            </a:r>
            <a:endParaRPr lang="en-US" sz="950" dirty="0"/>
          </a:p>
        </p:txBody>
      </p:sp>
      <p:sp>
        <p:nvSpPr>
          <p:cNvPr id="36" name="Text 34"/>
          <p:cNvSpPr/>
          <p:nvPr/>
        </p:nvSpPr>
        <p:spPr>
          <a:xfrm>
            <a:off x="8229600" y="406908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Eligible for daytime hotel room (until 20:00 revised ETD).</a:t>
            </a:r>
            <a:endParaRPr lang="en-US" sz="950" dirty="0"/>
          </a:p>
        </p:txBody>
      </p:sp>
      <p:sp>
        <p:nvSpPr>
          <p:cNvPr id="37" name="Text 35"/>
          <p:cNvSpPr/>
          <p:nvPr/>
        </p:nvSpPr>
        <p:spPr>
          <a:xfrm>
            <a:off x="8229600" y="470916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Customer requests ₹2,000 fare difference waiver on partner carrier.</a:t>
            </a:r>
            <a:endParaRPr lang="en-US" sz="950" dirty="0"/>
          </a:p>
        </p:txBody>
      </p:sp>
      <p:sp>
        <p:nvSpPr>
          <p:cNvPr id="38" name="Text 36"/>
          <p:cNvSpPr/>
          <p:nvPr/>
        </p:nvSpPr>
        <p:spPr>
          <a:xfrm>
            <a:off x="8229600" y="5349240"/>
            <a:ext cx="3200400" cy="594360"/>
          </a:xfrm>
          <a:prstGeom prst="rect">
            <a:avLst/>
          </a:prstGeom>
          <a:noFill/>
          <a:ln/>
        </p:spPr>
        <p:txBody>
          <a:bodyPr wrap="square" rtlCol="0" anchor="ctr"/>
          <a:lstStyle/>
          <a:p>
            <a:pPr indent="0" marL="0">
              <a:lnSpc>
                <a:spcPct val="110000"/>
              </a:lnSpc>
              <a:buNone/>
            </a:pPr>
            <a:r>
              <a:rPr lang="en-US" sz="950" dirty="0">
                <a:solidFill>
                  <a:srgbClr val="FFFFFF"/>
                </a:solidFill>
                <a:latin typeface="Arial" pitchFamily="34" charset="0"/>
                <a:ea typeface="Arial" pitchFamily="34" charset="-122"/>
                <a:cs typeface="Arial" pitchFamily="34" charset="-120"/>
              </a:rPr>
              <a:t>• AIONOS AIR: ₹1,500 limit enforced; ₹2,000 escalated to supervisor #ESC-7421.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POLICY SPECIFICATION</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Deterministic Service Policy &amp; Entitlement Rules Matrix</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Translating Civil Aviation Requirements (DGCA CAR Section 3) Into Code-Level Guardrails</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828800"/>
                <a:gridCol w="3931920"/>
                <a:gridCol w="2286000"/>
                <a:gridCol w="3044952"/>
              </a:tblGrid>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Policy Category</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Regulatory Rule &amp; Clause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Threshold Condition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AIONOS Deterministic Status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Cancellation Rebooking</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Airline-caused cancellation entitles customer to next available flight within 24h OR 100% refund with zero penalty.</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Immediate upon flight cancellation notice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[APPLIES] Free rebooking on SK-208 or ₹8,450 refund unlocked</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Delay Meals &amp; Refreshments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Complimentary meal voucher QR code provided for domestic flight delays exceeding 3 hours.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Delay Duration &gt; 3 Hours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[APPLIES] Auto-generates concession digital barcode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Departure Lounge Access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Complimentary terminal departure lounge access pass for domestic flight delays exceeding 3 hours.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Delay Duration &gt; 3 Hours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[APPLIES] Auto-generates lounge QR pass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Hotel Accommodation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Daytime hotel room accommodation authorized strictly for delays exceeding 5 hours (until revised ETD).</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Delay Duration &gt; 5 Hours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[EXCEEDED FOR 4H DELAY] Strictly blocked for Arvind; escalated to supervisor</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Agent Discretionary Waiver</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Maximum frontline agent fare difference waiver limit capped at ₹1,500 per passenger PNR.</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Fare Difference &lt;= ₹1,500</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[CAPPED AT ₹1,500] Meher ₹2,000 request requires supervisor ticket #ESC-7421</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713232">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Return Flight Isolation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Remedies apply strictly to disrupted flight segments. Unaffected return flights cannot be altered without tariff rules.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Disruption segment check</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[PROTECTED] Eliminates revenue leakage on unaffected return cabins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AUTONOMOUS EXECUTION</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Autonomous Action Center &amp; Human-in-the-Loop Escalation</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From Conversational Adjudication to Direct Enterprise Dispatch &amp; Supervisory Ticketing</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5303520" cy="4526280"/>
          </a:xfrm>
          <a:prstGeom prst="roundRect">
            <a:avLst>
              <a:gd name="adj" fmla="val 1616"/>
            </a:avLst>
          </a:prstGeom>
          <a:solidFill>
            <a:srgbClr val="1E293B"/>
          </a:solidFill>
          <a:ln w="19050">
            <a:solidFill>
              <a:srgbClr val="10B981"/>
            </a:solidFill>
            <a:prstDash val="solid"/>
          </a:ln>
        </p:spPr>
      </p:sp>
      <p:sp>
        <p:nvSpPr>
          <p:cNvPr id="10" name="Text 8"/>
          <p:cNvSpPr/>
          <p:nvPr/>
        </p:nvSpPr>
        <p:spPr>
          <a:xfrm>
            <a:off x="731520" y="1828800"/>
            <a:ext cx="4937760" cy="320040"/>
          </a:xfrm>
          <a:prstGeom prst="rect">
            <a:avLst/>
          </a:prstGeom>
          <a:noFill/>
          <a:ln/>
        </p:spPr>
        <p:txBody>
          <a:bodyPr wrap="square" rtlCol="0" anchor="ctr"/>
          <a:lstStyle/>
          <a:p>
            <a:pPr indent="0" marL="0">
              <a:buNone/>
            </a:pPr>
            <a:r>
              <a:rPr lang="en-US" sz="1100" b="1" dirty="0">
                <a:solidFill>
                  <a:srgbClr val="10B981"/>
                </a:solidFill>
                <a:latin typeface="Courier New" pitchFamily="34" charset="0"/>
                <a:ea typeface="Courier New" pitchFamily="34" charset="-122"/>
                <a:cs typeface="Courier New" pitchFamily="34" charset="-120"/>
              </a:rPr>
              <a:t>ONE-CLICK AUTONOMOUS ACTIONS // DIRECT GDS DISPATCH</a:t>
            </a:r>
            <a:endParaRPr lang="en-US" sz="1100" dirty="0"/>
          </a:p>
        </p:txBody>
      </p:sp>
      <p:sp>
        <p:nvSpPr>
          <p:cNvPr id="11" name="Text 9"/>
          <p:cNvSpPr/>
          <p:nvPr/>
        </p:nvSpPr>
        <p:spPr>
          <a:xfrm>
            <a:off x="731520" y="2240280"/>
            <a:ext cx="493776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Issue Priority Rebooking (SK-208)</a:t>
            </a:r>
            <a:endParaRPr lang="en-US" sz="1100" dirty="0"/>
          </a:p>
        </p:txBody>
      </p:sp>
      <p:sp>
        <p:nvSpPr>
          <p:cNvPr id="12" name="Text 10"/>
          <p:cNvSpPr/>
          <p:nvPr/>
        </p:nvSpPr>
        <p:spPr>
          <a:xfrm>
            <a:off x="731520" y="2514600"/>
            <a:ext cx="4937760" cy="457200"/>
          </a:xfrm>
          <a:prstGeom prst="rect">
            <a:avLst/>
          </a:prstGeom>
          <a:noFill/>
          <a:ln/>
        </p:spPr>
        <p:txBody>
          <a:bodyPr wrap="square" rtlCol="0" anchor="ctr"/>
          <a:lstStyle/>
          <a:p>
            <a:pPr indent="0" marL="0">
              <a:lnSpc>
                <a:spcPct val="110000"/>
              </a:lnSpc>
              <a:buNone/>
            </a:pPr>
            <a:r>
              <a:rPr lang="en-US" sz="950" dirty="0">
                <a:solidFill>
                  <a:srgbClr val="94A3B8"/>
                </a:solidFill>
                <a:latin typeface="Arial" pitchFamily="34" charset="0"/>
                <a:ea typeface="Arial" pitchFamily="34" charset="-122"/>
                <a:cs typeface="Arial" pitchFamily="34" charset="-120"/>
              </a:rPr>
              <a:t>Direct write-back to PSS. Dispatches confirmed e-ticket and boarding pass via SMS and email within 250ms.</a:t>
            </a:r>
            <a:endParaRPr lang="en-US" sz="950" dirty="0"/>
          </a:p>
        </p:txBody>
      </p:sp>
      <p:sp>
        <p:nvSpPr>
          <p:cNvPr id="13" name="Text 11"/>
          <p:cNvSpPr/>
          <p:nvPr/>
        </p:nvSpPr>
        <p:spPr>
          <a:xfrm>
            <a:off x="731520" y="3044952"/>
            <a:ext cx="493776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Process 100% Full Refund (₹8,450)</a:t>
            </a:r>
            <a:endParaRPr lang="en-US" sz="1100" dirty="0"/>
          </a:p>
        </p:txBody>
      </p:sp>
      <p:sp>
        <p:nvSpPr>
          <p:cNvPr id="14" name="Text 12"/>
          <p:cNvSpPr/>
          <p:nvPr/>
        </p:nvSpPr>
        <p:spPr>
          <a:xfrm>
            <a:off x="731520" y="3319272"/>
            <a:ext cx="4937760" cy="457200"/>
          </a:xfrm>
          <a:prstGeom prst="rect">
            <a:avLst/>
          </a:prstGeom>
          <a:noFill/>
          <a:ln/>
        </p:spPr>
        <p:txBody>
          <a:bodyPr wrap="square" rtlCol="0" anchor="ctr"/>
          <a:lstStyle/>
          <a:p>
            <a:pPr indent="0" marL="0">
              <a:lnSpc>
                <a:spcPct val="110000"/>
              </a:lnSpc>
              <a:buNone/>
            </a:pPr>
            <a:r>
              <a:rPr lang="en-US" sz="950" dirty="0">
                <a:solidFill>
                  <a:srgbClr val="94A3B8"/>
                </a:solidFill>
                <a:latin typeface="Arial" pitchFamily="34" charset="0"/>
                <a:ea typeface="Arial" pitchFamily="34" charset="-122"/>
                <a:cs typeface="Arial" pitchFamily="34" charset="-120"/>
              </a:rPr>
              <a:t>Instant initiation of statutory refund to original payment method with zero cancellation deduction.</a:t>
            </a:r>
            <a:endParaRPr lang="en-US" sz="950" dirty="0"/>
          </a:p>
        </p:txBody>
      </p:sp>
      <p:sp>
        <p:nvSpPr>
          <p:cNvPr id="15" name="Text 13"/>
          <p:cNvSpPr/>
          <p:nvPr/>
        </p:nvSpPr>
        <p:spPr>
          <a:xfrm>
            <a:off x="731520" y="3849624"/>
            <a:ext cx="493776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Issue Digital Meal Voucher QR</a:t>
            </a:r>
            <a:endParaRPr lang="en-US" sz="1100" dirty="0"/>
          </a:p>
        </p:txBody>
      </p:sp>
      <p:sp>
        <p:nvSpPr>
          <p:cNvPr id="16" name="Text 14"/>
          <p:cNvSpPr/>
          <p:nvPr/>
        </p:nvSpPr>
        <p:spPr>
          <a:xfrm>
            <a:off x="731520" y="4123944"/>
            <a:ext cx="4937760" cy="457200"/>
          </a:xfrm>
          <a:prstGeom prst="rect">
            <a:avLst/>
          </a:prstGeom>
          <a:noFill/>
          <a:ln/>
        </p:spPr>
        <p:txBody>
          <a:bodyPr wrap="square" rtlCol="0" anchor="ctr"/>
          <a:lstStyle/>
          <a:p>
            <a:pPr indent="0" marL="0">
              <a:lnSpc>
                <a:spcPct val="110000"/>
              </a:lnSpc>
              <a:buNone/>
            </a:pPr>
            <a:r>
              <a:rPr lang="en-US" sz="950" dirty="0">
                <a:solidFill>
                  <a:srgbClr val="94A3B8"/>
                </a:solidFill>
                <a:latin typeface="Arial" pitchFamily="34" charset="0"/>
                <a:ea typeface="Arial" pitchFamily="34" charset="-122"/>
                <a:cs typeface="Arial" pitchFamily="34" charset="-120"/>
              </a:rPr>
              <a:t>Generates airport terminal concession voucher barcode redeemable at partner dining outlets.</a:t>
            </a:r>
            <a:endParaRPr lang="en-US" sz="950" dirty="0"/>
          </a:p>
        </p:txBody>
      </p:sp>
      <p:sp>
        <p:nvSpPr>
          <p:cNvPr id="17" name="Text 15"/>
          <p:cNvSpPr/>
          <p:nvPr/>
        </p:nvSpPr>
        <p:spPr>
          <a:xfrm>
            <a:off x="731520" y="4654296"/>
            <a:ext cx="493776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Dispatch Departure Lounge QR Pass</a:t>
            </a:r>
            <a:endParaRPr lang="en-US" sz="1100" dirty="0"/>
          </a:p>
        </p:txBody>
      </p:sp>
      <p:sp>
        <p:nvSpPr>
          <p:cNvPr id="18" name="Text 16"/>
          <p:cNvSpPr/>
          <p:nvPr/>
        </p:nvSpPr>
        <p:spPr>
          <a:xfrm>
            <a:off x="731520" y="4928616"/>
            <a:ext cx="4937760" cy="457200"/>
          </a:xfrm>
          <a:prstGeom prst="rect">
            <a:avLst/>
          </a:prstGeom>
          <a:noFill/>
          <a:ln/>
        </p:spPr>
        <p:txBody>
          <a:bodyPr wrap="square" rtlCol="0" anchor="ctr"/>
          <a:lstStyle/>
          <a:p>
            <a:pPr indent="0" marL="0">
              <a:lnSpc>
                <a:spcPct val="110000"/>
              </a:lnSpc>
              <a:buNone/>
            </a:pPr>
            <a:r>
              <a:rPr lang="en-US" sz="950" dirty="0">
                <a:solidFill>
                  <a:srgbClr val="94A3B8"/>
                </a:solidFill>
                <a:latin typeface="Arial" pitchFamily="34" charset="0"/>
                <a:ea typeface="Arial" pitchFamily="34" charset="-122"/>
                <a:cs typeface="Arial" pitchFamily="34" charset="-120"/>
              </a:rPr>
              <a:t>Provides instant entry barcode to premium terminal departure lounge during delay window.</a:t>
            </a:r>
            <a:endParaRPr lang="en-US" sz="950" dirty="0"/>
          </a:p>
        </p:txBody>
      </p:sp>
      <p:sp>
        <p:nvSpPr>
          <p:cNvPr id="19" name="Text 17"/>
          <p:cNvSpPr/>
          <p:nvPr/>
        </p:nvSpPr>
        <p:spPr>
          <a:xfrm>
            <a:off x="731520" y="5458968"/>
            <a:ext cx="493776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Dispatch Daytime Hotel Voucher</a:t>
            </a:r>
            <a:endParaRPr lang="en-US" sz="1100" dirty="0"/>
          </a:p>
        </p:txBody>
      </p:sp>
      <p:sp>
        <p:nvSpPr>
          <p:cNvPr id="20" name="Text 18"/>
          <p:cNvSpPr/>
          <p:nvPr/>
        </p:nvSpPr>
        <p:spPr>
          <a:xfrm>
            <a:off x="731520" y="5733288"/>
            <a:ext cx="4937760" cy="457200"/>
          </a:xfrm>
          <a:prstGeom prst="rect">
            <a:avLst/>
          </a:prstGeom>
          <a:noFill/>
          <a:ln/>
        </p:spPr>
        <p:txBody>
          <a:bodyPr wrap="square" rtlCol="0" anchor="ctr"/>
          <a:lstStyle/>
          <a:p>
            <a:pPr indent="0" marL="0">
              <a:lnSpc>
                <a:spcPct val="110000"/>
              </a:lnSpc>
              <a:buNone/>
            </a:pPr>
            <a:r>
              <a:rPr lang="en-US" sz="950" dirty="0">
                <a:solidFill>
                  <a:srgbClr val="94A3B8"/>
                </a:solidFill>
                <a:latin typeface="Arial" pitchFamily="34" charset="0"/>
                <a:ea typeface="Arial" pitchFamily="34" charset="-122"/>
                <a:cs typeface="Arial" pitchFamily="34" charset="-120"/>
              </a:rPr>
              <a:t>Authorizes airport transit hotel room strictly until revised flight departure time (&gt;5h delays only).</a:t>
            </a:r>
            <a:endParaRPr lang="en-US" sz="950" dirty="0"/>
          </a:p>
        </p:txBody>
      </p:sp>
      <p:sp>
        <p:nvSpPr>
          <p:cNvPr id="21" name="Shape 19"/>
          <p:cNvSpPr/>
          <p:nvPr/>
        </p:nvSpPr>
        <p:spPr>
          <a:xfrm>
            <a:off x="6309360" y="1645920"/>
            <a:ext cx="5303520" cy="4526280"/>
          </a:xfrm>
          <a:prstGeom prst="roundRect">
            <a:avLst>
              <a:gd name="adj" fmla="val 1616"/>
            </a:avLst>
          </a:prstGeom>
          <a:solidFill>
            <a:srgbClr val="1E293B"/>
          </a:solidFill>
          <a:ln w="19050">
            <a:solidFill>
              <a:srgbClr val="A855F7"/>
            </a:solidFill>
            <a:prstDash val="solid"/>
          </a:ln>
        </p:spPr>
      </p:sp>
      <p:sp>
        <p:nvSpPr>
          <p:cNvPr id="22" name="Text 20"/>
          <p:cNvSpPr/>
          <p:nvPr/>
        </p:nvSpPr>
        <p:spPr>
          <a:xfrm>
            <a:off x="6492240" y="1828800"/>
            <a:ext cx="4937760" cy="320040"/>
          </a:xfrm>
          <a:prstGeom prst="rect">
            <a:avLst/>
          </a:prstGeom>
          <a:noFill/>
          <a:ln/>
        </p:spPr>
        <p:txBody>
          <a:bodyPr wrap="square" rtlCol="0" anchor="ctr"/>
          <a:lstStyle/>
          <a:p>
            <a:pPr indent="0" marL="0">
              <a:buNone/>
            </a:pPr>
            <a:r>
              <a:rPr lang="en-US" sz="1100" b="1" dirty="0">
                <a:solidFill>
                  <a:srgbClr val="C084FC"/>
                </a:solidFill>
                <a:latin typeface="Courier New" pitchFamily="34" charset="0"/>
                <a:ea typeface="Courier New" pitchFamily="34" charset="-122"/>
                <a:cs typeface="Courier New" pitchFamily="34" charset="-120"/>
              </a:rPr>
              <a:t>HUMAN-IN-THE-LOOP SUPERVISOR TICKETS // OUT-OF-POLICY</a:t>
            </a:r>
            <a:endParaRPr lang="en-US" sz="1100" dirty="0"/>
          </a:p>
        </p:txBody>
      </p:sp>
      <p:sp>
        <p:nvSpPr>
          <p:cNvPr id="23" name="Text 21"/>
          <p:cNvSpPr/>
          <p:nvPr/>
        </p:nvSpPr>
        <p:spPr>
          <a:xfrm>
            <a:off x="6492240" y="2240280"/>
            <a:ext cx="4937760" cy="274320"/>
          </a:xfrm>
          <a:prstGeom prst="rect">
            <a:avLst/>
          </a:prstGeom>
          <a:noFill/>
          <a:ln/>
        </p:spPr>
        <p:txBody>
          <a:bodyPr wrap="square" rtlCol="0" anchor="ctr"/>
          <a:lstStyle/>
          <a:p>
            <a:pPr indent="0" marL="0">
              <a:buNone/>
            </a:pPr>
            <a:r>
              <a:rPr lang="en-US" sz="1100" b="1" dirty="0">
                <a:solidFill>
                  <a:srgbClr val="E9D5FF"/>
                </a:solidFill>
                <a:latin typeface="Courier New" pitchFamily="34" charset="0"/>
                <a:ea typeface="Courier New" pitchFamily="34" charset="-122"/>
                <a:cs typeface="Courier New" pitchFamily="34" charset="-120"/>
              </a:rPr>
              <a:t>TICKET #ESC-8119: Hotel Accommodation Exception</a:t>
            </a:r>
            <a:endParaRPr lang="en-US" sz="1100" dirty="0"/>
          </a:p>
        </p:txBody>
      </p:sp>
      <p:sp>
        <p:nvSpPr>
          <p:cNvPr id="24" name="Text 22"/>
          <p:cNvSpPr/>
          <p:nvPr/>
        </p:nvSpPr>
        <p:spPr>
          <a:xfrm>
            <a:off x="6492240" y="2514600"/>
            <a:ext cx="4937760"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Arvind Kulkarni (Silver) • PNR TR1190B • Delay 4h</a:t>
            </a:r>
            <a:endParaRPr lang="en-US" sz="950" dirty="0"/>
          </a:p>
        </p:txBody>
      </p:sp>
      <p:sp>
        <p:nvSpPr>
          <p:cNvPr id="25" name="Text 23"/>
          <p:cNvSpPr/>
          <p:nvPr/>
        </p:nvSpPr>
        <p:spPr>
          <a:xfrm>
            <a:off x="6492240" y="2743200"/>
            <a:ext cx="4937760" cy="685800"/>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Customer requested hotel on 4h delay. System policy requires &gt;5h. Routed to Duty Supervisor with audit notes.</a:t>
            </a:r>
            <a:endParaRPr lang="en-US" sz="950" dirty="0"/>
          </a:p>
        </p:txBody>
      </p:sp>
      <p:sp>
        <p:nvSpPr>
          <p:cNvPr id="26" name="Text 24"/>
          <p:cNvSpPr/>
          <p:nvPr/>
        </p:nvSpPr>
        <p:spPr>
          <a:xfrm>
            <a:off x="6492240" y="3474720"/>
            <a:ext cx="4937760" cy="274320"/>
          </a:xfrm>
          <a:prstGeom prst="rect">
            <a:avLst/>
          </a:prstGeom>
          <a:noFill/>
          <a:ln/>
        </p:spPr>
        <p:txBody>
          <a:bodyPr wrap="square" rtlCol="0" anchor="ctr"/>
          <a:lstStyle/>
          <a:p>
            <a:pPr indent="0" marL="0">
              <a:buNone/>
            </a:pPr>
            <a:r>
              <a:rPr lang="en-US" sz="1100" b="1" dirty="0">
                <a:solidFill>
                  <a:srgbClr val="E9D5FF"/>
                </a:solidFill>
                <a:latin typeface="Courier New" pitchFamily="34" charset="0"/>
                <a:ea typeface="Courier New" pitchFamily="34" charset="-122"/>
                <a:cs typeface="Courier New" pitchFamily="34" charset="-120"/>
              </a:rPr>
              <a:t>TICKET #ESC-7421: Fare Waiver Limit Exception</a:t>
            </a:r>
            <a:endParaRPr lang="en-US" sz="1100" dirty="0"/>
          </a:p>
        </p:txBody>
      </p:sp>
      <p:sp>
        <p:nvSpPr>
          <p:cNvPr id="27" name="Text 25"/>
          <p:cNvSpPr/>
          <p:nvPr/>
        </p:nvSpPr>
        <p:spPr>
          <a:xfrm>
            <a:off x="6492240" y="3749040"/>
            <a:ext cx="4937760"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Meher Kaur (Platinum) • PNR WL7742 • Delay 6h</a:t>
            </a:r>
            <a:endParaRPr lang="en-US" sz="950" dirty="0"/>
          </a:p>
        </p:txBody>
      </p:sp>
      <p:sp>
        <p:nvSpPr>
          <p:cNvPr id="28" name="Text 26"/>
          <p:cNvSpPr/>
          <p:nvPr/>
        </p:nvSpPr>
        <p:spPr>
          <a:xfrm>
            <a:off x="6492240" y="3977640"/>
            <a:ext cx="4937760" cy="685800"/>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Requested ₹2,000 fare difference waiver. Exceeds frontline ₹1,500 cap. Escalated for managerial approval.</a:t>
            </a:r>
            <a:endParaRPr lang="en-US" sz="950" dirty="0"/>
          </a:p>
        </p:txBody>
      </p:sp>
      <p:sp>
        <p:nvSpPr>
          <p:cNvPr id="29" name="Text 27"/>
          <p:cNvSpPr/>
          <p:nvPr/>
        </p:nvSpPr>
        <p:spPr>
          <a:xfrm>
            <a:off x="6492240" y="4709160"/>
            <a:ext cx="4937760" cy="274320"/>
          </a:xfrm>
          <a:prstGeom prst="rect">
            <a:avLst/>
          </a:prstGeom>
          <a:noFill/>
          <a:ln/>
        </p:spPr>
        <p:txBody>
          <a:bodyPr wrap="square" rtlCol="0" anchor="ctr"/>
          <a:lstStyle/>
          <a:p>
            <a:pPr indent="0" marL="0">
              <a:buNone/>
            </a:pPr>
            <a:r>
              <a:rPr lang="en-US" sz="1100" b="1" dirty="0">
                <a:solidFill>
                  <a:srgbClr val="E9D5FF"/>
                </a:solidFill>
                <a:latin typeface="Courier New" pitchFamily="34" charset="0"/>
                <a:ea typeface="Courier New" pitchFamily="34" charset="-122"/>
                <a:cs typeface="Courier New" pitchFamily="34" charset="-120"/>
              </a:rPr>
              <a:t>TICKET #ESC-4821: Cabin Upgrade Exception</a:t>
            </a:r>
            <a:endParaRPr lang="en-US" sz="1100" dirty="0"/>
          </a:p>
        </p:txBody>
      </p:sp>
      <p:sp>
        <p:nvSpPr>
          <p:cNvPr id="30" name="Text 28"/>
          <p:cNvSpPr/>
          <p:nvPr/>
        </p:nvSpPr>
        <p:spPr>
          <a:xfrm>
            <a:off x="6492240" y="4983480"/>
            <a:ext cx="4937760"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Priya Nair (Gold) • PNR SK4821X • Cancelled SK-204</a:t>
            </a:r>
            <a:endParaRPr lang="en-US" sz="950" dirty="0"/>
          </a:p>
        </p:txBody>
      </p:sp>
      <p:sp>
        <p:nvSpPr>
          <p:cNvPr id="31" name="Text 29"/>
          <p:cNvSpPr/>
          <p:nvPr/>
        </p:nvSpPr>
        <p:spPr>
          <a:xfrm>
            <a:off x="6492240" y="5212080"/>
            <a:ext cx="4937760" cy="685800"/>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Customer requested Business Class upgrade on unaffected return flight. Escalated to Revenue Management.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AUDIT &amp; COMPLIANCE</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Immutable Audit Trail &amp; Regulatory Event Telemetry</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Microsecond-Level Compliance Logging for DGCA, FAA &amp; EU261 Inspection</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463040"/>
                <a:gridCol w="1645920"/>
                <a:gridCol w="2103120"/>
                <a:gridCol w="4782312"/>
                <a:gridCol w="1097280"/>
              </a:tblGrid>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Timestamp (IST)</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Customer PNR</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Event Classification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Policy Reference &amp; Operational Details</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Severity</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18:42:01.124</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SK4821X (Priya)</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CUSTOMER_INBOUND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Passenger opened resolution session for cancelled flight SK-204 (DEL → GOI).</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NORMAL</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18:42:01.890</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SK4821X (Priya)</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POLICY_EVALUATION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Cancellation Rebooking Rule evaluated [APPLIES]. Free rebooking or full refund unlocked.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NORMAL</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18:42:45.312</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SK4821X (Priya)</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GUARDRAIL_INTERCEPTION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Customer requested cabin upgrade on unaffected return leg. Intercepted &amp; rejected.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WARNING</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18:43:10.552</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SK4821X (Priya)</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ACTION_EXECUTED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Confirmed priority rebooking on SK-208 (DEL → GOI, departing 21:15 IST). Seat 12A.</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SUCCESS</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19:04:12.780</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TR1190B (Arvind)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POLICY_EVALUATION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Delay duration 4h. Amenity Rule evaluated: Meal voucher [APPLIES], Lounge [APPLIES], Hotel [EXCEEDED].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NORMAL</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19:05:01.210</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TR1190B (Arvind)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SUPERVISOR_ESCALATION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Customer demanded hotel accommodation. Ticket #ESC-8119 created for Duty Supervisor.</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WARNING</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594360">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19:22:40.890</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WL7742 (Meher)</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SUPERVISOR_ESCALATION</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Customer requested ₹2,000 waiver. Exceeds ₹1,500 limit. Ticket #ESC-7421 dispatched.</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00" dirty="0">
                          <a:solidFill>
                            <a:srgbClr val="FFFFFF"/>
                          </a:solidFill>
                          <a:latin typeface="Courier New" pitchFamily="34" charset="0"/>
                          <a:ea typeface="Courier New" pitchFamily="34" charset="-122"/>
                          <a:cs typeface="Courier New" pitchFamily="34" charset="-120"/>
                        </a:rPr>
                        <a:t>WARNING</a:t>
                      </a:r>
                      <a:endParaRPr lang="en-US" sz="900" dirty="0">
                        <a:latin typeface="Courier New" charset="0"/>
                        <a:ea typeface="Courier New" charset="0"/>
                        <a:cs typeface="Courier New"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SPATIAL AWARENESS</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Cinematic 3D Flight Opening &amp; Spatial Disruption Radar</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Real-Time Procedural WebGL Situational Awareness for Operations Staff &amp; Passengers</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5303520" cy="1325880"/>
          </a:xfrm>
          <a:prstGeom prst="roundRect">
            <a:avLst>
              <a:gd name="adj" fmla="val 5517"/>
            </a:avLst>
          </a:prstGeom>
          <a:solidFill>
            <a:srgbClr val="1E293B"/>
          </a:solidFill>
          <a:ln w="15240">
            <a:solidFill>
              <a:srgbClr val="38BDF8"/>
            </a:solidFill>
            <a:prstDash val="solid"/>
          </a:ln>
        </p:spPr>
      </p:sp>
      <p:sp>
        <p:nvSpPr>
          <p:cNvPr id="10" name="Text 8"/>
          <p:cNvSpPr/>
          <p:nvPr/>
        </p:nvSpPr>
        <p:spPr>
          <a:xfrm>
            <a:off x="731520" y="1783080"/>
            <a:ext cx="4937760" cy="32004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Interactive 3D Airliner &amp; Radar HUD</a:t>
            </a:r>
            <a:endParaRPr lang="en-US" sz="1200" dirty="0"/>
          </a:p>
        </p:txBody>
      </p:sp>
      <p:sp>
        <p:nvSpPr>
          <p:cNvPr id="11" name="Text 9"/>
          <p:cNvSpPr/>
          <p:nvPr/>
        </p:nvSpPr>
        <p:spPr>
          <a:xfrm>
            <a:off x="731520" y="210312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Custom procedural Three.js commercial airliner featuring real-time engine turbine animation, dynamic control surfaces, runway approach vectors, and flight telemetry HUD.</a:t>
            </a:r>
            <a:endParaRPr lang="en-US" sz="1050" dirty="0"/>
          </a:p>
        </p:txBody>
      </p:sp>
      <p:sp>
        <p:nvSpPr>
          <p:cNvPr id="12" name="Shape 10"/>
          <p:cNvSpPr/>
          <p:nvPr/>
        </p:nvSpPr>
        <p:spPr>
          <a:xfrm>
            <a:off x="548640" y="3108960"/>
            <a:ext cx="5303520" cy="1325880"/>
          </a:xfrm>
          <a:prstGeom prst="roundRect">
            <a:avLst>
              <a:gd name="adj" fmla="val 5517"/>
            </a:avLst>
          </a:prstGeom>
          <a:solidFill>
            <a:srgbClr val="1E293B"/>
          </a:solidFill>
          <a:ln w="15240">
            <a:solidFill>
              <a:srgbClr val="38BDF8"/>
            </a:solidFill>
            <a:prstDash val="solid"/>
          </a:ln>
        </p:spPr>
      </p:sp>
      <p:sp>
        <p:nvSpPr>
          <p:cNvPr id="13" name="Text 11"/>
          <p:cNvSpPr/>
          <p:nvPr/>
        </p:nvSpPr>
        <p:spPr>
          <a:xfrm>
            <a:off x="731520" y="3246120"/>
            <a:ext cx="4937760" cy="32004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Hub Network Telemetry (DEL, BOM, GOI, BLR, HYD)</a:t>
            </a:r>
            <a:endParaRPr lang="en-US" sz="1200" dirty="0"/>
          </a:p>
        </p:txBody>
      </p:sp>
      <p:sp>
        <p:nvSpPr>
          <p:cNvPr id="14" name="Text 12"/>
          <p:cNvSpPr/>
          <p:nvPr/>
        </p:nvSpPr>
        <p:spPr>
          <a:xfrm>
            <a:off x="731520" y="356616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Maps the core Indian aviation corridors with live flight telemetry: Altitude (FL340), Airspeed (482 KTS), Heading (194° SSW), and disruption status flags.</a:t>
            </a:r>
            <a:endParaRPr lang="en-US" sz="1050" dirty="0"/>
          </a:p>
        </p:txBody>
      </p:sp>
      <p:sp>
        <p:nvSpPr>
          <p:cNvPr id="15" name="Shape 13"/>
          <p:cNvSpPr/>
          <p:nvPr/>
        </p:nvSpPr>
        <p:spPr>
          <a:xfrm>
            <a:off x="548640" y="4572000"/>
            <a:ext cx="5303520" cy="1325880"/>
          </a:xfrm>
          <a:prstGeom prst="roundRect">
            <a:avLst>
              <a:gd name="adj" fmla="val 5517"/>
            </a:avLst>
          </a:prstGeom>
          <a:solidFill>
            <a:srgbClr val="1E293B"/>
          </a:solidFill>
          <a:ln w="15240">
            <a:solidFill>
              <a:srgbClr val="38BDF8"/>
            </a:solidFill>
            <a:prstDash val="solid"/>
          </a:ln>
        </p:spPr>
      </p:sp>
      <p:sp>
        <p:nvSpPr>
          <p:cNvPr id="16" name="Text 14"/>
          <p:cNvSpPr/>
          <p:nvPr/>
        </p:nvSpPr>
        <p:spPr>
          <a:xfrm>
            <a:off x="731520" y="4709160"/>
            <a:ext cx="4937760" cy="32004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Cascading Delay Awareness</a:t>
            </a:r>
            <a:endParaRPr lang="en-US" sz="1200" dirty="0"/>
          </a:p>
        </p:txBody>
      </p:sp>
      <p:sp>
        <p:nvSpPr>
          <p:cNvPr id="17" name="Text 15"/>
          <p:cNvSpPr/>
          <p:nvPr/>
        </p:nvSpPr>
        <p:spPr>
          <a:xfrm>
            <a:off x="731520" y="5029200"/>
            <a:ext cx="4937760" cy="777240"/>
          </a:xfrm>
          <a:prstGeom prst="rect">
            <a:avLst/>
          </a:prstGeom>
          <a:noFill/>
          <a:ln/>
        </p:spPr>
        <p:txBody>
          <a:bodyPr wrap="square"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Visualizing flight corridors allows passengers to understand why an incoming aircraft is delayed due to weather, drastically defusing frontline frustration.</a:t>
            </a:r>
            <a:endParaRPr lang="en-US" sz="1050" dirty="0"/>
          </a:p>
        </p:txBody>
      </p:sp>
      <p:sp>
        <p:nvSpPr>
          <p:cNvPr id="18" name="Shape 16"/>
          <p:cNvSpPr/>
          <p:nvPr/>
        </p:nvSpPr>
        <p:spPr>
          <a:xfrm>
            <a:off x="6309360" y="1645920"/>
            <a:ext cx="5303520" cy="4526280"/>
          </a:xfrm>
          <a:prstGeom prst="roundRect">
            <a:avLst>
              <a:gd name="adj" fmla="val 1616"/>
            </a:avLst>
          </a:prstGeom>
          <a:solidFill>
            <a:srgbClr val="020617"/>
          </a:solidFill>
          <a:ln w="19050">
            <a:solidFill>
              <a:srgbClr val="0369A1"/>
            </a:solidFill>
            <a:prstDash val="solid"/>
          </a:ln>
        </p:spPr>
      </p:sp>
      <p:sp>
        <p:nvSpPr>
          <p:cNvPr id="19" name="Text 17"/>
          <p:cNvSpPr/>
          <p:nvPr/>
        </p:nvSpPr>
        <p:spPr>
          <a:xfrm>
            <a:off x="6492240" y="1828800"/>
            <a:ext cx="4937760" cy="320040"/>
          </a:xfrm>
          <a:prstGeom prst="rect">
            <a:avLst/>
          </a:prstGeom>
          <a:noFill/>
          <a:ln/>
        </p:spPr>
        <p:txBody>
          <a:bodyPr wrap="square" rtlCol="0" anchor="ctr"/>
          <a:lstStyle/>
          <a:p>
            <a:pPr indent="0" marL="0">
              <a:buNone/>
            </a:pPr>
            <a:r>
              <a:rPr lang="en-US" sz="1100" b="1" dirty="0">
                <a:solidFill>
                  <a:srgbClr val="38BDF8"/>
                </a:solidFill>
                <a:latin typeface="Courier New" pitchFamily="34" charset="0"/>
                <a:ea typeface="Courier New" pitchFamily="34" charset="-122"/>
                <a:cs typeface="Courier New" pitchFamily="34" charset="-120"/>
              </a:rPr>
              <a:t>THREE.JS 3D RADAR // HUB NETWORK TELEMETRY</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2240" y="2286000"/>
          <a:ext cx="4937760" cy="914400"/>
        </p:xfrm>
        <a:graphic>
          <a:graphicData uri="http://schemas.openxmlformats.org/drawingml/2006/table">
            <a:tbl>
              <a:tblPr/>
              <a:tblGrid>
                <a:gridCol w="914400"/>
                <a:gridCol w="1097280"/>
                <a:gridCol w="1005840"/>
                <a:gridCol w="1005840"/>
                <a:gridCol w="914400"/>
              </a:tblGrid>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Flight #</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Corridor Route</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Status</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Telemetry</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Impact</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SK-204</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DEL → GOI</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CANCELLED</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Ground Stop DEL</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Priya (Gold) Rebooking</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SK-118</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BOM → BLR</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DELAYED 4H</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ATC Hold BOM</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Arvind (Silver) Meal QR</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SK-305</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DEL → HYD</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DELAYED 6H</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Weather DEL</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Meher (Plat) Day Hotel</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SK-208</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DEL → GOI</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ON SCHEDULE</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Departing 21:15</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Relief Rebooking Flight</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594360">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SK-412</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BLR → BOM</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AIRBORNE</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FL340 / 482 KTS</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algn="l" indent="0" marL="0">
                        <a:buNone/>
                      </a:pPr>
                      <a:r>
                        <a:rPr lang="en-US" sz="850" dirty="0">
                          <a:solidFill>
                            <a:srgbClr val="FFFFFF"/>
                          </a:solidFill>
                          <a:latin typeface="Courier New" pitchFamily="34" charset="0"/>
                          <a:ea typeface="Courier New" pitchFamily="34" charset="-122"/>
                          <a:cs typeface="Courier New" pitchFamily="34" charset="-120"/>
                        </a:rPr>
                        <a:t>Operational Corridor</a:t>
                      </a:r>
                      <a:endParaRPr lang="en-US" sz="850" dirty="0">
                        <a:latin typeface="Courier New" charset="0"/>
                        <a:ea typeface="Courier New" charset="0"/>
                        <a:cs typeface="Courier New"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BUSINESS IMPACT &amp; ROI</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Quantified Business Impact: Millions Saved in Margin &amp; Loyalty</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Transforming Airline Disruption Resolution from a Chronic Bleed into a Loyalty Engine</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2651760" cy="1554480"/>
          </a:xfrm>
          <a:prstGeom prst="roundRect">
            <a:avLst>
              <a:gd name="adj" fmla="val 4706"/>
            </a:avLst>
          </a:prstGeom>
          <a:solidFill>
            <a:srgbClr val="1E293B"/>
          </a:solidFill>
          <a:ln w="15240">
            <a:solidFill>
              <a:srgbClr val="0284C7"/>
            </a:solidFill>
            <a:prstDash val="solid"/>
          </a:ln>
        </p:spPr>
      </p:sp>
      <p:sp>
        <p:nvSpPr>
          <p:cNvPr id="10" name="Text 8"/>
          <p:cNvSpPr/>
          <p:nvPr/>
        </p:nvSpPr>
        <p:spPr>
          <a:xfrm>
            <a:off x="685800" y="1783080"/>
            <a:ext cx="2377440" cy="274320"/>
          </a:xfrm>
          <a:prstGeom prst="rect">
            <a:avLst/>
          </a:prstGeom>
          <a:noFill/>
          <a:ln/>
        </p:spPr>
        <p:txBody>
          <a:bodyPr wrap="square" rtlCol="0" anchor="ctr"/>
          <a:lstStyle/>
          <a:p>
            <a:pPr indent="0" marL="0">
              <a:buNone/>
            </a:pPr>
            <a:r>
              <a:rPr lang="en-US" sz="950" b="1" dirty="0">
                <a:solidFill>
                  <a:srgbClr val="94A3B8"/>
                </a:solidFill>
                <a:latin typeface="Courier New" pitchFamily="34" charset="0"/>
                <a:ea typeface="Courier New" pitchFamily="34" charset="-122"/>
                <a:cs typeface="Courier New" pitchFamily="34" charset="-120"/>
              </a:rPr>
              <a:t>HANDLE TIME REDUCTION</a:t>
            </a:r>
            <a:endParaRPr lang="en-US" sz="950" dirty="0"/>
          </a:p>
        </p:txBody>
      </p:sp>
      <p:sp>
        <p:nvSpPr>
          <p:cNvPr id="11" name="Text 9"/>
          <p:cNvSpPr/>
          <p:nvPr/>
        </p:nvSpPr>
        <p:spPr>
          <a:xfrm>
            <a:off x="685800" y="2057400"/>
            <a:ext cx="2377440" cy="594360"/>
          </a:xfrm>
          <a:prstGeom prst="rect">
            <a:avLst/>
          </a:prstGeom>
          <a:noFill/>
          <a:ln/>
        </p:spPr>
        <p:txBody>
          <a:bodyPr wrap="square" rtlCol="0" anchor="ctr"/>
          <a:lstStyle/>
          <a:p>
            <a:pPr indent="0" marL="0">
              <a:buNone/>
            </a:pPr>
            <a:r>
              <a:rPr lang="en-US" sz="2800" b="1" dirty="0">
                <a:solidFill>
                  <a:srgbClr val="0284C7"/>
                </a:solidFill>
                <a:latin typeface="Arial" pitchFamily="34" charset="0"/>
                <a:ea typeface="Arial" pitchFamily="34" charset="-122"/>
                <a:cs typeface="Arial" pitchFamily="34" charset="-120"/>
              </a:rPr>
              <a:t>85%</a:t>
            </a:r>
            <a:endParaRPr lang="en-US" sz="2800" dirty="0"/>
          </a:p>
        </p:txBody>
      </p:sp>
      <p:sp>
        <p:nvSpPr>
          <p:cNvPr id="12" name="Text 10"/>
          <p:cNvSpPr/>
          <p:nvPr/>
        </p:nvSpPr>
        <p:spPr>
          <a:xfrm>
            <a:off x="685800" y="26517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From 42 min to &lt; 6 min</a:t>
            </a:r>
            <a:endParaRPr lang="en-US" sz="1000" dirty="0"/>
          </a:p>
        </p:txBody>
      </p:sp>
      <p:sp>
        <p:nvSpPr>
          <p:cNvPr id="13" name="Shape 11"/>
          <p:cNvSpPr/>
          <p:nvPr/>
        </p:nvSpPr>
        <p:spPr>
          <a:xfrm>
            <a:off x="3364992" y="1645920"/>
            <a:ext cx="2651760" cy="1554480"/>
          </a:xfrm>
          <a:prstGeom prst="roundRect">
            <a:avLst>
              <a:gd name="adj" fmla="val 4706"/>
            </a:avLst>
          </a:prstGeom>
          <a:solidFill>
            <a:srgbClr val="1E293B"/>
          </a:solidFill>
          <a:ln w="15240">
            <a:solidFill>
              <a:srgbClr val="10B981"/>
            </a:solidFill>
            <a:prstDash val="solid"/>
          </a:ln>
        </p:spPr>
      </p:sp>
      <p:sp>
        <p:nvSpPr>
          <p:cNvPr id="14" name="Text 12"/>
          <p:cNvSpPr/>
          <p:nvPr/>
        </p:nvSpPr>
        <p:spPr>
          <a:xfrm>
            <a:off x="3502152" y="1783080"/>
            <a:ext cx="2377440" cy="274320"/>
          </a:xfrm>
          <a:prstGeom prst="rect">
            <a:avLst/>
          </a:prstGeom>
          <a:noFill/>
          <a:ln/>
        </p:spPr>
        <p:txBody>
          <a:bodyPr wrap="square" rtlCol="0" anchor="ctr"/>
          <a:lstStyle/>
          <a:p>
            <a:pPr indent="0" marL="0">
              <a:buNone/>
            </a:pPr>
            <a:r>
              <a:rPr lang="en-US" sz="950" b="1" dirty="0">
                <a:solidFill>
                  <a:srgbClr val="94A3B8"/>
                </a:solidFill>
                <a:latin typeface="Courier New" pitchFamily="34" charset="0"/>
                <a:ea typeface="Courier New" pitchFamily="34" charset="-122"/>
                <a:cs typeface="Courier New" pitchFamily="34" charset="-120"/>
              </a:rPr>
              <a:t>ANNUAL LEAKAGE SAVED</a:t>
            </a:r>
            <a:endParaRPr lang="en-US" sz="950" dirty="0"/>
          </a:p>
        </p:txBody>
      </p:sp>
      <p:sp>
        <p:nvSpPr>
          <p:cNvPr id="15" name="Text 13"/>
          <p:cNvSpPr/>
          <p:nvPr/>
        </p:nvSpPr>
        <p:spPr>
          <a:xfrm>
            <a:off x="3502152" y="2057400"/>
            <a:ext cx="2377440" cy="594360"/>
          </a:xfrm>
          <a:prstGeom prst="rect">
            <a:avLst/>
          </a:prstGeom>
          <a:noFill/>
          <a:ln/>
        </p:spPr>
        <p:txBody>
          <a:bodyPr wrap="square" rtlCol="0" anchor="ctr"/>
          <a:lstStyle/>
          <a:p>
            <a:pPr indent="0" marL="0">
              <a:buNone/>
            </a:pPr>
            <a:r>
              <a:rPr lang="en-US" sz="2800" b="1" dirty="0">
                <a:solidFill>
                  <a:srgbClr val="10B981"/>
                </a:solidFill>
                <a:latin typeface="Arial" pitchFamily="34" charset="0"/>
                <a:ea typeface="Arial" pitchFamily="34" charset="-122"/>
                <a:cs typeface="Arial" pitchFamily="34" charset="-120"/>
              </a:rPr>
              <a:t>$4.2M</a:t>
            </a:r>
            <a:endParaRPr lang="en-US" sz="2800" dirty="0"/>
          </a:p>
        </p:txBody>
      </p:sp>
      <p:sp>
        <p:nvSpPr>
          <p:cNvPr id="16" name="Text 14"/>
          <p:cNvSpPr/>
          <p:nvPr/>
        </p:nvSpPr>
        <p:spPr>
          <a:xfrm>
            <a:off x="3502152" y="26517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Per 10M flyers / year</a:t>
            </a:r>
            <a:endParaRPr lang="en-US" sz="1000" dirty="0"/>
          </a:p>
        </p:txBody>
      </p:sp>
      <p:sp>
        <p:nvSpPr>
          <p:cNvPr id="17" name="Shape 15"/>
          <p:cNvSpPr/>
          <p:nvPr/>
        </p:nvSpPr>
        <p:spPr>
          <a:xfrm>
            <a:off x="6181344" y="1645920"/>
            <a:ext cx="2651760" cy="1554480"/>
          </a:xfrm>
          <a:prstGeom prst="roundRect">
            <a:avLst>
              <a:gd name="adj" fmla="val 4706"/>
            </a:avLst>
          </a:prstGeom>
          <a:solidFill>
            <a:srgbClr val="1E293B"/>
          </a:solidFill>
          <a:ln w="15240">
            <a:solidFill>
              <a:srgbClr val="38BDF8"/>
            </a:solidFill>
            <a:prstDash val="solid"/>
          </a:ln>
        </p:spPr>
      </p:sp>
      <p:sp>
        <p:nvSpPr>
          <p:cNvPr id="18" name="Text 16"/>
          <p:cNvSpPr/>
          <p:nvPr/>
        </p:nvSpPr>
        <p:spPr>
          <a:xfrm>
            <a:off x="6318504" y="1783080"/>
            <a:ext cx="2377440" cy="274320"/>
          </a:xfrm>
          <a:prstGeom prst="rect">
            <a:avLst/>
          </a:prstGeom>
          <a:noFill/>
          <a:ln/>
        </p:spPr>
        <p:txBody>
          <a:bodyPr wrap="square" rtlCol="0" anchor="ctr"/>
          <a:lstStyle/>
          <a:p>
            <a:pPr indent="0" marL="0">
              <a:buNone/>
            </a:pPr>
            <a:r>
              <a:rPr lang="en-US" sz="950" b="1" dirty="0">
                <a:solidFill>
                  <a:srgbClr val="94A3B8"/>
                </a:solidFill>
                <a:latin typeface="Courier New" pitchFamily="34" charset="0"/>
                <a:ea typeface="Courier New" pitchFamily="34" charset="-122"/>
                <a:cs typeface="Courier New" pitchFamily="34" charset="-120"/>
              </a:rPr>
              <a:t>POLICY COMPLIANCE</a:t>
            </a:r>
            <a:endParaRPr lang="en-US" sz="950" dirty="0"/>
          </a:p>
        </p:txBody>
      </p:sp>
      <p:sp>
        <p:nvSpPr>
          <p:cNvPr id="19" name="Text 17"/>
          <p:cNvSpPr/>
          <p:nvPr/>
        </p:nvSpPr>
        <p:spPr>
          <a:xfrm>
            <a:off x="6318504" y="2057400"/>
            <a:ext cx="2377440" cy="594360"/>
          </a:xfrm>
          <a:prstGeom prst="rect">
            <a:avLst/>
          </a:prstGeom>
          <a:noFill/>
          <a:ln/>
        </p:spPr>
        <p:txBody>
          <a:bodyPr wrap="square" rtlCol="0" anchor="ctr"/>
          <a:lstStyle/>
          <a:p>
            <a:pPr indent="0" marL="0">
              <a:buNone/>
            </a:pPr>
            <a:r>
              <a:rPr lang="en-US" sz="2800" b="1" dirty="0">
                <a:solidFill>
                  <a:srgbClr val="38BDF8"/>
                </a:solidFill>
                <a:latin typeface="Arial" pitchFamily="34" charset="0"/>
                <a:ea typeface="Arial" pitchFamily="34" charset="-122"/>
                <a:cs typeface="Arial" pitchFamily="34" charset="-120"/>
              </a:rPr>
              <a:t>99.8%</a:t>
            </a:r>
            <a:endParaRPr lang="en-US" sz="2800" dirty="0"/>
          </a:p>
        </p:txBody>
      </p:sp>
      <p:sp>
        <p:nvSpPr>
          <p:cNvPr id="20" name="Text 18"/>
          <p:cNvSpPr/>
          <p:nvPr/>
        </p:nvSpPr>
        <p:spPr>
          <a:xfrm>
            <a:off x="6318504" y="26517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Zero regulatory fines</a:t>
            </a:r>
            <a:endParaRPr lang="en-US" sz="1000" dirty="0"/>
          </a:p>
        </p:txBody>
      </p:sp>
      <p:sp>
        <p:nvSpPr>
          <p:cNvPr id="21" name="Shape 19"/>
          <p:cNvSpPr/>
          <p:nvPr/>
        </p:nvSpPr>
        <p:spPr>
          <a:xfrm>
            <a:off x="8997696" y="1645920"/>
            <a:ext cx="2651760" cy="1554480"/>
          </a:xfrm>
          <a:prstGeom prst="roundRect">
            <a:avLst>
              <a:gd name="adj" fmla="val 4706"/>
            </a:avLst>
          </a:prstGeom>
          <a:solidFill>
            <a:srgbClr val="1E293B"/>
          </a:solidFill>
          <a:ln w="15240">
            <a:solidFill>
              <a:srgbClr val="F59E0B"/>
            </a:solidFill>
            <a:prstDash val="solid"/>
          </a:ln>
        </p:spPr>
      </p:sp>
      <p:sp>
        <p:nvSpPr>
          <p:cNvPr id="22" name="Text 20"/>
          <p:cNvSpPr/>
          <p:nvPr/>
        </p:nvSpPr>
        <p:spPr>
          <a:xfrm>
            <a:off x="9134856" y="1783080"/>
            <a:ext cx="2377440" cy="274320"/>
          </a:xfrm>
          <a:prstGeom prst="rect">
            <a:avLst/>
          </a:prstGeom>
          <a:noFill/>
          <a:ln/>
        </p:spPr>
        <p:txBody>
          <a:bodyPr wrap="square" rtlCol="0" anchor="ctr"/>
          <a:lstStyle/>
          <a:p>
            <a:pPr indent="0" marL="0">
              <a:buNone/>
            </a:pPr>
            <a:r>
              <a:rPr lang="en-US" sz="950" b="1" dirty="0">
                <a:solidFill>
                  <a:srgbClr val="94A3B8"/>
                </a:solidFill>
                <a:latin typeface="Courier New" pitchFamily="34" charset="0"/>
                <a:ea typeface="Courier New" pitchFamily="34" charset="-122"/>
                <a:cs typeface="Courier New" pitchFamily="34" charset="-120"/>
              </a:rPr>
              <a:t>IROPS NPS LIFT</a:t>
            </a:r>
            <a:endParaRPr lang="en-US" sz="950" dirty="0"/>
          </a:p>
        </p:txBody>
      </p:sp>
      <p:sp>
        <p:nvSpPr>
          <p:cNvPr id="23" name="Text 21"/>
          <p:cNvSpPr/>
          <p:nvPr/>
        </p:nvSpPr>
        <p:spPr>
          <a:xfrm>
            <a:off x="9134856" y="2057400"/>
            <a:ext cx="2377440" cy="594360"/>
          </a:xfrm>
          <a:prstGeom prst="rect">
            <a:avLst/>
          </a:prstGeom>
          <a:noFill/>
          <a:ln/>
        </p:spPr>
        <p:txBody>
          <a:bodyPr wrap="square" rtlCol="0" anchor="ctr"/>
          <a:lstStyle/>
          <a:p>
            <a:pPr indent="0" marL="0">
              <a:buNone/>
            </a:pPr>
            <a:r>
              <a:rPr lang="en-US" sz="2800" b="1" dirty="0">
                <a:solidFill>
                  <a:srgbClr val="F59E0B"/>
                </a:solidFill>
                <a:latin typeface="Arial" pitchFamily="34" charset="0"/>
                <a:ea typeface="Arial" pitchFamily="34" charset="-122"/>
                <a:cs typeface="Arial" pitchFamily="34" charset="-120"/>
              </a:rPr>
              <a:t>+34 PTS</a:t>
            </a:r>
            <a:endParaRPr lang="en-US" sz="2800" dirty="0"/>
          </a:p>
        </p:txBody>
      </p:sp>
      <p:sp>
        <p:nvSpPr>
          <p:cNvPr id="24" name="Text 22"/>
          <p:cNvSpPr/>
          <p:nvPr/>
        </p:nvSpPr>
        <p:spPr>
          <a:xfrm>
            <a:off x="9134856" y="26517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Frequent flyer retention</a:t>
            </a:r>
            <a:endParaRPr lang="en-US" sz="1000" dirty="0"/>
          </a:p>
        </p:txBody>
      </p:sp>
      <p:sp>
        <p:nvSpPr>
          <p:cNvPr id="25" name="Shape 23"/>
          <p:cNvSpPr/>
          <p:nvPr/>
        </p:nvSpPr>
        <p:spPr>
          <a:xfrm>
            <a:off x="548640" y="3429000"/>
            <a:ext cx="11091672" cy="2743200"/>
          </a:xfrm>
          <a:prstGeom prst="roundRect">
            <a:avLst>
              <a:gd name="adj" fmla="val 2667"/>
            </a:avLst>
          </a:prstGeom>
          <a:solidFill>
            <a:srgbClr val="1E293B"/>
          </a:solidFill>
          <a:ln w="12700">
            <a:solidFill>
              <a:srgbClr val="334155"/>
            </a:solidFill>
            <a:prstDash val="solid"/>
          </a:ln>
        </p:spPr>
      </p:sp>
      <p:sp>
        <p:nvSpPr>
          <p:cNvPr id="26" name="Text 24"/>
          <p:cNvSpPr/>
          <p:nvPr/>
        </p:nvSpPr>
        <p:spPr>
          <a:xfrm>
            <a:off x="731520" y="3566160"/>
            <a:ext cx="10515600" cy="274320"/>
          </a:xfrm>
          <a:prstGeom prst="rect">
            <a:avLst/>
          </a:prstGeom>
          <a:noFill/>
          <a:ln/>
        </p:spPr>
        <p:txBody>
          <a:bodyPr wrap="square" rtlCol="0" anchor="ctr"/>
          <a:lstStyle/>
          <a:p>
            <a:pPr indent="0" marL="0">
              <a:buNone/>
            </a:pPr>
            <a:r>
              <a:rPr lang="en-US" sz="1100" b="1" dirty="0">
                <a:solidFill>
                  <a:srgbClr val="38BDF8"/>
                </a:solidFill>
                <a:latin typeface="Courier New" pitchFamily="34" charset="0"/>
                <a:ea typeface="Courier New" pitchFamily="34" charset="-122"/>
                <a:cs typeface="Courier New" pitchFamily="34" charset="-120"/>
              </a:rPr>
              <a:t>OPERATIONAL PERFORMANCE COMPARISON // BEFORE VS AFTER AIONOS AIR</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3886200"/>
          <a:ext cx="10725912" cy="914400"/>
        </p:xfrm>
        <a:graphic>
          <a:graphicData uri="http://schemas.openxmlformats.org/drawingml/2006/table">
            <a:tbl>
              <a:tblPr/>
              <a:tblGrid>
                <a:gridCol w="2103120"/>
                <a:gridCol w="2926080"/>
                <a:gridCol w="2926080"/>
                <a:gridCol w="2770632"/>
              </a:tblGrid>
              <a:tr h="502920">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Dimension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Traditional Airline Operation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With AIONOS AIR Control Tower</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Business Impact</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r>
              <a:tr h="502920">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IROPS First Contact Resolution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18.4% (Multi-day backlogs)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92.4% (Instant self-service)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Slashing contact center overtime by 72%</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r>
              <a:tr h="502920">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Unauthorized Agent Waivers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Discretionary leakage ($14.2M/yr)</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Mathematically capped at ₹1,500</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$4.2M direct margin preserved annually</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r>
              <a:tr h="502920">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High-Tier Loyalty Retention</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-18pts NPS drop during delays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+34pts NPS lift from proactive care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Guarding $28M in annual recurring revenue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r>
              <a:tr h="502920">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Civil Aviation Sanctions</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Frequent penalty exposure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100% DGCA &amp; EU261 audit compliance</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c>
                  <a:txBody>
                    <a:bodyPr/>
                    <a:lstStyle/>
                    <a:p>
                      <a:pPr algn="l" indent="0" marL="0">
                        <a:buNone/>
                      </a:pPr>
                      <a:r>
                        <a:rPr lang="en-US" sz="900" dirty="0">
                          <a:solidFill>
                            <a:srgbClr val="FFFFFF"/>
                          </a:solidFill>
                          <a:latin typeface="Arial" pitchFamily="34" charset="0"/>
                          <a:ea typeface="Arial" pitchFamily="34" charset="-122"/>
                          <a:cs typeface="Arial" pitchFamily="34" charset="-120"/>
                        </a:rPr>
                        <a:t>Zero regulatory fines incurred</a:t>
                      </a:r>
                      <a:endParaRPr lang="en-US" sz="90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31C3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93B"/>
          </a:solidFill>
          <a:ln w="12700">
            <a:solidFill>
              <a:srgbClr val="334155"/>
            </a:solidFill>
            <a:prstDash val="solid"/>
          </a:ln>
        </p:spPr>
      </p:sp>
      <p:sp>
        <p:nvSpPr>
          <p:cNvPr id="3" name="Shape 1"/>
          <p:cNvSpPr/>
          <p:nvPr/>
        </p:nvSpPr>
        <p:spPr>
          <a:xfrm>
            <a:off x="548640" y="182880"/>
            <a:ext cx="2194560" cy="320040"/>
          </a:xfrm>
          <a:prstGeom prst="roundRect">
            <a:avLst>
              <a:gd name="adj" fmla="val 28571"/>
            </a:avLst>
          </a:prstGeom>
          <a:solidFill>
            <a:srgbClr val="083344"/>
          </a:solidFill>
          <a:ln w="12700">
            <a:solidFill>
              <a:srgbClr val="38BDF8"/>
            </a:solidFill>
            <a:prstDash val="solid"/>
          </a:ln>
        </p:spPr>
      </p:sp>
      <p:sp>
        <p:nvSpPr>
          <p:cNvPr id="4" name="Text 2"/>
          <p:cNvSpPr/>
          <p:nvPr/>
        </p:nvSpPr>
        <p:spPr>
          <a:xfrm>
            <a:off x="548640" y="182880"/>
            <a:ext cx="219456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ROADMAP &amp; SCALABILITY</a:t>
            </a:r>
            <a:endParaRPr lang="en-US" sz="1000" dirty="0"/>
          </a:p>
        </p:txBody>
      </p:sp>
      <p:sp>
        <p:nvSpPr>
          <p:cNvPr id="5" name="Text 3"/>
          <p:cNvSpPr/>
          <p:nvPr/>
        </p:nvSpPr>
        <p:spPr>
          <a:xfrm>
            <a:off x="7772400" y="201168"/>
            <a:ext cx="3840480" cy="320040"/>
          </a:xfrm>
          <a:prstGeom prst="rect">
            <a:avLst/>
          </a:prstGeom>
          <a:noFill/>
          <a:ln/>
        </p:spPr>
        <p:txBody>
          <a:bodyPr wrap="square" rtlCol="0" anchor="ctr"/>
          <a:lstStyle/>
          <a:p>
            <a:pPr algn="r" indent="0" marL="0">
              <a:buNone/>
            </a:pPr>
            <a:r>
              <a:rPr lang="en-US" sz="1000" b="1" dirty="0">
                <a:solidFill>
                  <a:srgbClr val="94A3B8"/>
                </a:solidFill>
                <a:latin typeface="Courier New" pitchFamily="34" charset="0"/>
                <a:ea typeface="Courier New" pitchFamily="34" charset="-122"/>
                <a:cs typeface="Courier New" pitchFamily="34" charset="-120"/>
              </a:rPr>
              <a:t>AIONOS AIR // EXECUTIVE DECK</a:t>
            </a:r>
            <a:endParaRPr lang="en-US" sz="1000" dirty="0"/>
          </a:p>
        </p:txBody>
      </p:sp>
      <p:sp>
        <p:nvSpPr>
          <p:cNvPr id="6" name="Text 4"/>
          <p:cNvSpPr/>
          <p:nvPr/>
        </p:nvSpPr>
        <p:spPr>
          <a:xfrm>
            <a:off x="548640" y="530352"/>
            <a:ext cx="86868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Technology Stack &amp; Enterprise Integration Roadmap</a:t>
            </a:r>
            <a:endParaRPr lang="en-US" sz="1800" dirty="0"/>
          </a:p>
        </p:txBody>
      </p:sp>
      <p:sp>
        <p:nvSpPr>
          <p:cNvPr id="7" name="Text 5"/>
          <p:cNvSpPr/>
          <p:nvPr/>
        </p:nvSpPr>
        <p:spPr>
          <a:xfrm>
            <a:off x="548640" y="1143000"/>
            <a:ext cx="11091672" cy="411480"/>
          </a:xfrm>
          <a:prstGeom prst="rect">
            <a:avLst/>
          </a:prstGeom>
          <a:noFill/>
          <a:ln/>
        </p:spPr>
        <p:txBody>
          <a:bodyPr wrap="square" rtlCol="0" anchor="ctr"/>
          <a:lstStyle/>
          <a:p>
            <a:pPr indent="0" marL="0">
              <a:buNone/>
            </a:pPr>
            <a:r>
              <a:rPr lang="en-US" sz="1200" i="1" dirty="0">
                <a:solidFill>
                  <a:srgbClr val="38BDF8"/>
                </a:solidFill>
                <a:latin typeface="Arial" pitchFamily="34" charset="0"/>
                <a:ea typeface="Arial" pitchFamily="34" charset="-122"/>
                <a:cs typeface="Arial" pitchFamily="34" charset="-120"/>
              </a:rPr>
              <a:t>Production-Ready Architecture Built for Global GDS Distribution &amp; Cloud Run Containerization</a:t>
            </a:r>
            <a:endParaRPr lang="en-US" sz="1200" dirty="0"/>
          </a:p>
        </p:txBody>
      </p:sp>
      <p:sp>
        <p:nvSpPr>
          <p:cNvPr id="8" name="Text 6"/>
          <p:cNvSpPr/>
          <p:nvPr/>
        </p:nvSpPr>
        <p:spPr>
          <a:xfrm>
            <a:off x="548640" y="6492240"/>
            <a:ext cx="11091672"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AIONOS AIR • Operational Horizon: Sep 2026 • DGCA CAR Section 3 &amp; EU261 Aligned • Cloud Run Native</a:t>
            </a:r>
            <a:endParaRPr lang="en-US" sz="900" dirty="0"/>
          </a:p>
        </p:txBody>
      </p:sp>
      <p:sp>
        <p:nvSpPr>
          <p:cNvPr id="9" name="Shape 7"/>
          <p:cNvSpPr/>
          <p:nvPr/>
        </p:nvSpPr>
        <p:spPr>
          <a:xfrm>
            <a:off x="548640" y="1645920"/>
            <a:ext cx="11091672" cy="1371600"/>
          </a:xfrm>
          <a:prstGeom prst="roundRect">
            <a:avLst>
              <a:gd name="adj" fmla="val 5333"/>
            </a:avLst>
          </a:prstGeom>
          <a:solidFill>
            <a:srgbClr val="1E293B"/>
          </a:solidFill>
          <a:ln w="19050">
            <a:solidFill>
              <a:srgbClr val="10B981"/>
            </a:solidFill>
            <a:prstDash val="solid"/>
          </a:ln>
        </p:spPr>
      </p:sp>
      <p:sp>
        <p:nvSpPr>
          <p:cNvPr id="10" name="Text 8"/>
          <p:cNvSpPr/>
          <p:nvPr/>
        </p:nvSpPr>
        <p:spPr>
          <a:xfrm>
            <a:off x="731520" y="1755648"/>
            <a:ext cx="7315200" cy="27432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PHASE 1: PRODUCTION CORE (DELIVERED TODAY)</a:t>
            </a:r>
            <a:endParaRPr lang="en-US" sz="1200" dirty="0"/>
          </a:p>
        </p:txBody>
      </p:sp>
      <p:sp>
        <p:nvSpPr>
          <p:cNvPr id="11" name="Text 9"/>
          <p:cNvSpPr/>
          <p:nvPr/>
        </p:nvSpPr>
        <p:spPr>
          <a:xfrm>
            <a:off x="8229600" y="1755648"/>
            <a:ext cx="3200400" cy="256032"/>
          </a:xfrm>
          <a:prstGeom prst="rect">
            <a:avLst/>
          </a:prstGeom>
          <a:noFill/>
          <a:ln/>
        </p:spPr>
        <p:txBody>
          <a:bodyPr wrap="square" rtlCol="0" anchor="ctr"/>
          <a:lstStyle/>
          <a:p>
            <a:pPr algn="r" indent="0" marL="0">
              <a:buNone/>
            </a:pPr>
            <a:r>
              <a:rPr lang="en-US" sz="950" b="1" dirty="0">
                <a:solidFill>
                  <a:srgbClr val="10B981"/>
                </a:solidFill>
                <a:latin typeface="Courier New" pitchFamily="34" charset="0"/>
                <a:ea typeface="Courier New" pitchFamily="34" charset="-122"/>
                <a:cs typeface="Courier New" pitchFamily="34" charset="-120"/>
              </a:rPr>
              <a:t>STATUS: PRODUCTION READY</a:t>
            </a:r>
            <a:endParaRPr lang="en-US" sz="950" dirty="0"/>
          </a:p>
        </p:txBody>
      </p:sp>
      <p:sp>
        <p:nvSpPr>
          <p:cNvPr id="12" name="Text 10"/>
          <p:cNvSpPr/>
          <p:nvPr/>
        </p:nvSpPr>
        <p:spPr>
          <a:xfrm>
            <a:off x="731520" y="2057400"/>
            <a:ext cx="10515600" cy="868680"/>
          </a:xfrm>
          <a:prstGeom prst="rect">
            <a:avLst/>
          </a:prstGeom>
          <a:noFill/>
          <a:ln/>
        </p:spPr>
        <p:txBody>
          <a:bodyPr wrap="square" rtlCol="0" anchor="ctr"/>
          <a:lstStyle/>
          <a:p>
            <a:pPr indent="0" marL="0">
              <a:lnSpc>
                <a:spcPct val="125000"/>
              </a:lnSpc>
              <a:buNone/>
            </a:pPr>
            <a:r>
              <a:rPr lang="en-US" sz="1000" dirty="0">
                <a:solidFill>
                  <a:srgbClr val="FFFFFF"/>
                </a:solidFill>
                <a:latin typeface="Arial" pitchFamily="34" charset="0"/>
                <a:ea typeface="Arial" pitchFamily="34" charset="-122"/>
                <a:cs typeface="Arial" pitchFamily="34" charset="-120"/>
              </a:rPr>
              <a:t>Deterministic Policy Authority Engine with zero-hallucination guardrails.   •   PRAG-A 5-stage cognitive reasoning chain (Perceive to Act).   •   Dual-Engine Architecture: Gemini 3.6 Flash + Instant Deterministic Engine.   •   3-Persona Multi-Tier Testbeds (Gold Priya, Silver Arvind, Platinum Meher).   •   One-click Action Center with Supervisor Escalation Ticketing.   •   Microsecond-level immutable audit ledger with DGCA compliance references.   •   Containerized Cloud Run ready with single-port dynamic binding (0.0.0.0:$PORT).</a:t>
            </a:r>
            <a:endParaRPr lang="en-US" sz="1000" dirty="0"/>
          </a:p>
        </p:txBody>
      </p:sp>
      <p:sp>
        <p:nvSpPr>
          <p:cNvPr id="13" name="Shape 11"/>
          <p:cNvSpPr/>
          <p:nvPr/>
        </p:nvSpPr>
        <p:spPr>
          <a:xfrm>
            <a:off x="548640" y="3154680"/>
            <a:ext cx="11091672" cy="1371600"/>
          </a:xfrm>
          <a:prstGeom prst="roundRect">
            <a:avLst>
              <a:gd name="adj" fmla="val 5333"/>
            </a:avLst>
          </a:prstGeom>
          <a:solidFill>
            <a:srgbClr val="1E293B"/>
          </a:solidFill>
          <a:ln w="19050">
            <a:solidFill>
              <a:srgbClr val="38BDF8"/>
            </a:solidFill>
            <a:prstDash val="solid"/>
          </a:ln>
        </p:spPr>
      </p:sp>
      <p:sp>
        <p:nvSpPr>
          <p:cNvPr id="14" name="Text 12"/>
          <p:cNvSpPr/>
          <p:nvPr/>
        </p:nvSpPr>
        <p:spPr>
          <a:xfrm>
            <a:off x="731520" y="3264408"/>
            <a:ext cx="7315200" cy="27432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PHASE 2: GDS &amp; NDC PROTOCOL INTEGRATION (Q1 2027)</a:t>
            </a:r>
            <a:endParaRPr lang="en-US" sz="1200" dirty="0"/>
          </a:p>
        </p:txBody>
      </p:sp>
      <p:sp>
        <p:nvSpPr>
          <p:cNvPr id="15" name="Text 13"/>
          <p:cNvSpPr/>
          <p:nvPr/>
        </p:nvSpPr>
        <p:spPr>
          <a:xfrm>
            <a:off x="8229600" y="3264408"/>
            <a:ext cx="3200400" cy="256032"/>
          </a:xfrm>
          <a:prstGeom prst="rect">
            <a:avLst/>
          </a:prstGeom>
          <a:noFill/>
          <a:ln/>
        </p:spPr>
        <p:txBody>
          <a:bodyPr wrap="square" rtlCol="0" anchor="ctr"/>
          <a:lstStyle/>
          <a:p>
            <a:pPr algn="r" indent="0" marL="0">
              <a:buNone/>
            </a:pPr>
            <a:r>
              <a:rPr lang="en-US" sz="950" b="1" dirty="0">
                <a:solidFill>
                  <a:srgbClr val="38BDF8"/>
                </a:solidFill>
                <a:latin typeface="Courier New" pitchFamily="34" charset="0"/>
                <a:ea typeface="Courier New" pitchFamily="34" charset="-122"/>
                <a:cs typeface="Courier New" pitchFamily="34" charset="-120"/>
              </a:rPr>
              <a:t>STATUS: IN DEVELOPMENT</a:t>
            </a:r>
            <a:endParaRPr lang="en-US" sz="950" dirty="0"/>
          </a:p>
        </p:txBody>
      </p:sp>
      <p:sp>
        <p:nvSpPr>
          <p:cNvPr id="16" name="Text 14"/>
          <p:cNvSpPr/>
          <p:nvPr/>
        </p:nvSpPr>
        <p:spPr>
          <a:xfrm>
            <a:off x="731520" y="3566160"/>
            <a:ext cx="10515600" cy="868680"/>
          </a:xfrm>
          <a:prstGeom prst="rect">
            <a:avLst/>
          </a:prstGeom>
          <a:noFill/>
          <a:ln/>
        </p:spPr>
        <p:txBody>
          <a:bodyPr wrap="square" rtlCol="0" anchor="ctr"/>
          <a:lstStyle/>
          <a:p>
            <a:pPr indent="0" marL="0">
              <a:lnSpc>
                <a:spcPct val="125000"/>
              </a:lnSpc>
              <a:buNone/>
            </a:pPr>
            <a:r>
              <a:rPr lang="en-US" sz="1000" dirty="0">
                <a:solidFill>
                  <a:srgbClr val="FFFFFF"/>
                </a:solidFill>
                <a:latin typeface="Arial" pitchFamily="34" charset="0"/>
                <a:ea typeface="Arial" pitchFamily="34" charset="-122"/>
                <a:cs typeface="Arial" pitchFamily="34" charset="-120"/>
              </a:rPr>
              <a:t>Direct bi-directional PSS writeback with Amadeus Altéa &amp; SabreSonic.   •   IATA New Distribution Capability (NDC 21.3) XML ticket reissue API.   •   Automated interline rebooking across Star Alliance &amp; oneworld partners.   •   Airport terminal concession POS QR barcode validation scanner integration.</a:t>
            </a:r>
            <a:endParaRPr lang="en-US" sz="1000" dirty="0"/>
          </a:p>
        </p:txBody>
      </p:sp>
      <p:sp>
        <p:nvSpPr>
          <p:cNvPr id="17" name="Shape 15"/>
          <p:cNvSpPr/>
          <p:nvPr/>
        </p:nvSpPr>
        <p:spPr>
          <a:xfrm>
            <a:off x="548640" y="4663440"/>
            <a:ext cx="11091672" cy="1371600"/>
          </a:xfrm>
          <a:prstGeom prst="roundRect">
            <a:avLst>
              <a:gd name="adj" fmla="val 5333"/>
            </a:avLst>
          </a:prstGeom>
          <a:solidFill>
            <a:srgbClr val="1E293B"/>
          </a:solidFill>
          <a:ln w="19050">
            <a:solidFill>
              <a:srgbClr val="A855F7"/>
            </a:solidFill>
            <a:prstDash val="solid"/>
          </a:ln>
        </p:spPr>
      </p:sp>
      <p:sp>
        <p:nvSpPr>
          <p:cNvPr id="18" name="Text 16"/>
          <p:cNvSpPr/>
          <p:nvPr/>
        </p:nvSpPr>
        <p:spPr>
          <a:xfrm>
            <a:off x="731520" y="4773168"/>
            <a:ext cx="7315200" cy="274320"/>
          </a:xfrm>
          <a:prstGeom prst="rect">
            <a:avLst/>
          </a:prstGeom>
          <a:noFill/>
          <a:ln/>
        </p:spPr>
        <p:txBody>
          <a:bodyPr wrap="square" rtlCol="0" anchor="ctr"/>
          <a:lstStyle/>
          <a:p>
            <a:pPr indent="0" marL="0">
              <a:buNone/>
            </a:pPr>
            <a:r>
              <a:rPr lang="en-US" sz="1200" b="1" dirty="0">
                <a:solidFill>
                  <a:srgbClr val="A855F7"/>
                </a:solidFill>
                <a:latin typeface="Arial" pitchFamily="34" charset="0"/>
                <a:ea typeface="Arial" pitchFamily="34" charset="-122"/>
                <a:cs typeface="Arial" pitchFamily="34" charset="-120"/>
              </a:rPr>
              <a:t>PHASE 3: MULTI-LINGUAL VOICE &amp; MOBILE SDK (Q2 2027)</a:t>
            </a:r>
            <a:endParaRPr lang="en-US" sz="1200" dirty="0"/>
          </a:p>
        </p:txBody>
      </p:sp>
      <p:sp>
        <p:nvSpPr>
          <p:cNvPr id="19" name="Text 17"/>
          <p:cNvSpPr/>
          <p:nvPr/>
        </p:nvSpPr>
        <p:spPr>
          <a:xfrm>
            <a:off x="8229600" y="4773168"/>
            <a:ext cx="3200400" cy="256032"/>
          </a:xfrm>
          <a:prstGeom prst="rect">
            <a:avLst/>
          </a:prstGeom>
          <a:noFill/>
          <a:ln/>
        </p:spPr>
        <p:txBody>
          <a:bodyPr wrap="square" rtlCol="0" anchor="ctr"/>
          <a:lstStyle/>
          <a:p>
            <a:pPr algn="r" indent="0" marL="0">
              <a:buNone/>
            </a:pPr>
            <a:r>
              <a:rPr lang="en-US" sz="950" b="1" dirty="0">
                <a:solidFill>
                  <a:srgbClr val="A855F7"/>
                </a:solidFill>
                <a:latin typeface="Courier New" pitchFamily="34" charset="0"/>
                <a:ea typeface="Courier New" pitchFamily="34" charset="-122"/>
                <a:cs typeface="Courier New" pitchFamily="34" charset="-120"/>
              </a:rPr>
              <a:t>STATUS: SCHEDULED</a:t>
            </a:r>
            <a:endParaRPr lang="en-US" sz="950" dirty="0"/>
          </a:p>
        </p:txBody>
      </p:sp>
      <p:sp>
        <p:nvSpPr>
          <p:cNvPr id="20" name="Text 18"/>
          <p:cNvSpPr/>
          <p:nvPr/>
        </p:nvSpPr>
        <p:spPr>
          <a:xfrm>
            <a:off x="731520" y="5074920"/>
            <a:ext cx="10515600" cy="868680"/>
          </a:xfrm>
          <a:prstGeom prst="rect">
            <a:avLst/>
          </a:prstGeom>
          <a:noFill/>
          <a:ln/>
        </p:spPr>
        <p:txBody>
          <a:bodyPr wrap="square" rtlCol="0" anchor="ctr"/>
          <a:lstStyle/>
          <a:p>
            <a:pPr indent="0" marL="0">
              <a:lnSpc>
                <a:spcPct val="125000"/>
              </a:lnSpc>
              <a:buNone/>
            </a:pPr>
            <a:r>
              <a:rPr lang="en-US" sz="1000" dirty="0">
                <a:solidFill>
                  <a:srgbClr val="FFFFFF"/>
                </a:solidFill>
                <a:latin typeface="Arial" pitchFamily="34" charset="0"/>
                <a:ea typeface="Arial" pitchFamily="34" charset="-122"/>
                <a:cs typeface="Arial" pitchFamily="34" charset="-120"/>
              </a:rPr>
              <a:t>Sub-second voice agent via Gemini Live Audio WebRTC for phone IVR.   •   Native iOS and Android mobile SDKs for in-app airline integration.   •   Multi-lingual support across 12 Indian regional and international languages.   •   Automated baggage tracing &amp; delivery compensation reconciliation.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AIONOS Aviation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AIONOS AIR — Executive Architecture &amp; Strategy Deck</dc:title>
  <dc:subject>Autonomous Disruption Resolution &amp; Policy Authority Control Tower</dc:subject>
  <dc:creator>AIONOS AIR Systems</dc:creator>
  <cp:lastModifiedBy>AIONOS AIR Systems</cp:lastModifiedBy>
  <cp:revision>1</cp:revision>
  <dcterms:created xsi:type="dcterms:W3CDTF">2026-09-17T19:38:19Z</dcterms:created>
  <dcterms:modified xsi:type="dcterms:W3CDTF">2026-09-17T19:38:19Z</dcterms:modified>
</cp:coreProperties>
</file>