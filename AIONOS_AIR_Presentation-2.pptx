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274320"/>
            <a:ext cx="914400" cy="9144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-731520"/>
            <a:ext cx="1828800" cy="18288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-1188720"/>
            <a:ext cx="2743200" cy="27432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645920"/>
            <a:ext cx="3657600" cy="36576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" y="6583680"/>
            <a:ext cx="731520" cy="731520"/>
          </a:xfrm>
          <a:prstGeom prst="ellipse">
            <a:avLst/>
          </a:prstGeom>
          <a:ln w="9525">
            <a:solidFill>
              <a:srgbClr val="0E7490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457200" y="6217920"/>
            <a:ext cx="1463040" cy="1463040"/>
          </a:xfrm>
          <a:prstGeom prst="ellipse">
            <a:avLst/>
          </a:prstGeom>
          <a:ln w="9525">
            <a:solidFill>
              <a:srgbClr val="0E7490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822960" y="5852160"/>
            <a:ext cx="2194560" cy="2194560"/>
          </a:xfrm>
          <a:prstGeom prst="ellipse">
            <a:avLst/>
          </a:prstGeom>
          <a:ln w="9525">
            <a:solidFill>
              <a:srgbClr val="0E7490">
                <a:alpha val="3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FACTORY  ·  ASSIGNMENT 3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737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</a:t>
            </a:r>
            <a:pPr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Resolution Control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735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“Resolve With Reason”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3822192"/>
            <a:ext cx="2926080" cy="0"/>
          </a:xfrm>
          <a:prstGeom prst="line">
            <a:avLst/>
          </a:prstGeom>
          <a:noFill/>
          <a:ln w="12700">
            <a:solidFill>
              <a:srgbClr val="2737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02336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policy-grounded resolution agent that replaces manual disruption triage with real-time, explainable decision-making — built on live bookings, deterministic guardrails, and a full audit trail.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120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demonstrate a customer-facing resolution agent that reasons in natural language but never decides policy on its own.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0920" y="1417320"/>
            <a:ext cx="4251960" cy="4572000"/>
          </a:xfrm>
          <a:prstGeom prst="roundRect">
            <a:avLst>
              <a:gd name="adj" fmla="val 1720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35240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SNAPSHOT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2130552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20848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Reasoning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35915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is generated from live booking + policy data — never invented.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063240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3524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3017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engine decides eligibility; the model only explains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995928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352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950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224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a policy reference and a timestamp.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4928616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3524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8828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515721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with a single uvicorn/npm command — demo-ready.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5879592"/>
            <a:ext cx="37033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35240" y="587959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· ARVIND · MEHER  —  3 real disruption scenarios inside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   ·   TEAM / AUTHOR NAME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That Runs at Human Speed, Not Machine Scale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5453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85623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re-reads the booking and re-discovers the policy from scratch, case by case.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496312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4414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Policy Application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5234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facing the same disruption can hand out two different outcomes.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92424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64845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aren’t explainable — compliance and customers can’t see why a decision was made.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288536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42336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 Hallucinate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54456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LLMs invent compensation, prices, or policy clauses that don’t exist.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184648"/>
            <a:ext cx="420624" cy="420624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5166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1297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Blind Spots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54406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threats and edge cases are handled inconsistently — real liability risk.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600200"/>
            <a:ext cx="4709160" cy="4526280"/>
          </a:xfrm>
          <a:prstGeom prst="roundRect">
            <a:avLst>
              <a:gd name="adj" fmla="val 1616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17804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TODAY’S FLOW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2286000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228600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 support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8529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23760" y="3072384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2700">
            <a:solidFill>
              <a:srgbClr val="E2635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06640" y="307238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 / hold time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23760" y="3858768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385876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manually re-reads booking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44256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23760" y="4645152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2700">
            <a:solidFill>
              <a:srgbClr val="E0A9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06640" y="464515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looks up policy by memory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223760" y="52120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223760" y="5431536"/>
            <a:ext cx="4114800" cy="566928"/>
          </a:xfrm>
          <a:prstGeom prst="roundRect">
            <a:avLst>
              <a:gd name="adj" fmla="val 9677"/>
            </a:avLst>
          </a:prstGeom>
          <a:solidFill>
            <a:srgbClr val="1A2740"/>
          </a:solidFill>
          <a:ln w="12700">
            <a:solidFill>
              <a:srgbClr val="E263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06640" y="54315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Maybe-consistent answer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 &amp;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Scripts to Grounded Reasoning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E26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CHATBOT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fixed scripts — brittle on follow-ups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358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035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“approve” anything the model decides to say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941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6941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 within a conversation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525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52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responses — no policy reference, no trace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010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0109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answer, no way to see why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82512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A2740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56832" y="19202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reasoning, grounded in live booking + policy data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30358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3035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policy engine decides — never the model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36941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69417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memory across the session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43525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435254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carries a source chip and a policy reference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50109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76872" y="50109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traceable end to end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94360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 w="12700">
            <a:solidFill>
              <a:srgbClr val="1D2B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943600"/>
            <a:ext cx="27729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245352"/>
            <a:ext cx="2772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scenarios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3321558" y="5943600"/>
            <a:ext cx="27729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3321558" y="6245352"/>
            <a:ext cx="2772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policy-governed actions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094476" y="5943600"/>
            <a:ext cx="27729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6094476" y="6245352"/>
            <a:ext cx="2772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execution trace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67394" y="5943600"/>
            <a:ext cx="27729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8867394" y="6245352"/>
            <a:ext cx="2772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decisions left to the model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Proposes. The Policy Engine Decides.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566160" y="160020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A2740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66160" y="1600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RESOLUTION CONTROL DASHBOARD  (Web UI)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148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51760" y="2395728"/>
            <a:ext cx="6858000" cy="566928"/>
          </a:xfrm>
          <a:prstGeom prst="roundRect">
            <a:avLst>
              <a:gd name="adj" fmla="val 12903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51760" y="239572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API  —  /api/customers   /api/chat   /api/action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962656"/>
            <a:ext cx="-2834640" cy="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962656"/>
            <a:ext cx="0" cy="283464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962656"/>
            <a:ext cx="0" cy="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2962656"/>
            <a:ext cx="0" cy="283464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962656"/>
            <a:ext cx="2834640" cy="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2962656"/>
            <a:ext cx="0" cy="283464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461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A274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364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ENGINE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67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— server-side only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53128" y="32461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A2740"/>
          </a:solidFill>
          <a:ln w="12700">
            <a:solidFill>
              <a:srgbClr val="E0A9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36008" y="3364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GUARDRAIL ENGINE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3767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— the real decision-maker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57032" y="324612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A2740"/>
          </a:solidFill>
          <a:ln w="12700">
            <a:solidFill>
              <a:srgbClr val="4FAE7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439912" y="33649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BOOKING DATA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439912" y="3767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Source-of-truth records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4297680"/>
            <a:ext cx="0" cy="22860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0" y="4526280"/>
            <a:ext cx="3794760" cy="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297680"/>
            <a:ext cx="0" cy="22860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4526280"/>
            <a:ext cx="0" cy="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02952" y="4297680"/>
            <a:ext cx="0" cy="22860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02952" y="4526280"/>
            <a:ext cx="-3822192" cy="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4526280"/>
            <a:ext cx="0" cy="228600"/>
          </a:xfrm>
          <a:prstGeom prst="line">
            <a:avLst/>
          </a:prstGeom>
          <a:noFill/>
          <a:ln w="12700">
            <a:solidFill>
              <a:srgbClr val="5B6B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475488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651760" y="47548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&amp; ESCALATION LAYER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4855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55080" y="4754880"/>
            <a:ext cx="3246120" cy="566928"/>
          </a:xfrm>
          <a:prstGeom prst="roundRect">
            <a:avLst>
              <a:gd name="adj" fmla="val 12903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355080" y="47548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LEDGER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59612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D2B4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559612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   </a:t>
            </a:r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run independently of model output — the LLM never approves or denies an action itself.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AI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Stages, Every Turn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31174" y="2852928"/>
            <a:ext cx="9726603" cy="0"/>
          </a:xfrm>
          <a:prstGeom prst="line">
            <a:avLst/>
          </a:prstGeom>
          <a:noFill/>
          <a:ln w="19050">
            <a:solidFill>
              <a:srgbClr val="1D2B4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84286" y="2606040"/>
            <a:ext cx="493776" cy="493776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4286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message or disruption signal identified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5387" y="2606040"/>
            <a:ext cx="493776" cy="493776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05387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124021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986861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986861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context parsed — refund? upgrade? escalation?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26487" y="2606040"/>
            <a:ext cx="493776" cy="493776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26487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745121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07961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07961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drafts a grounded, natural-language response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47588" y="2606040"/>
            <a:ext cx="493776" cy="493776"/>
          </a:xfrm>
          <a:prstGeom prst="ellipse">
            <a:avLst/>
          </a:prstGeom>
          <a:solidFill>
            <a:srgbClr val="121C2E"/>
          </a:solidFill>
          <a:ln w="12700">
            <a:solidFill>
              <a:srgbClr val="E0A9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47588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366222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229062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229062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evaluate real eligibility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68689" y="2606040"/>
            <a:ext cx="493776" cy="493776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68689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6987322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50162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0162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· Escalation Required · Not Applicable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89789" y="2606040"/>
            <a:ext cx="493776" cy="493776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89789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608423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471263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71263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escalate, or decline the request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710890" y="2606040"/>
            <a:ext cx="493776" cy="493776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710890" y="25877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229523" y="2286000"/>
            <a:ext cx="1456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092363" y="3200400"/>
            <a:ext cx="17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092363" y="3493008"/>
            <a:ext cx="17308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logged with policy reference + timestamp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580644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580644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sue you” is detected and escalated at Policy Check — the Reason stage (Gemini) is skipped entirely for that turn.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Record, Six Layers of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394960" y="2788920"/>
            <a:ext cx="1417320" cy="1280160"/>
          </a:xfrm>
          <a:prstGeom prst="roundRect">
            <a:avLst>
              <a:gd name="adj" fmla="val 5714"/>
            </a:avLst>
          </a:prstGeom>
          <a:solidFill>
            <a:srgbClr val="1A2740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394960" y="278892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" y="168249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Tier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0116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tier, PNR, name, contact details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58200" y="155448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59368" y="168249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Disruption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659368" y="20116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Flight, route, status, cancellation or delay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04088" y="291693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Risk Signals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324612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flights, prior complaints, resolution history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58200" y="27889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59368" y="291693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Snapshot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59368" y="324612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Allowed / Escalation / Not Applicable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04088" y="415137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" y="44805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live from chat: refund, upgrade, hotel...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58200" y="4023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59368" y="415137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Signals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659368" y="448056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Legal-threat / formal-complaint keyword detection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63240" y="5532120"/>
            <a:ext cx="603504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63240" y="553212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 </a:t>
            </a:r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Meher Kaur  ·  Platinum  ·  WL7742  ·  6h delay  ·  10 flights, 1 prior complaint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RESOLUTION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In, Grounded Outcomes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conversation history (last 6 turns)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363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1363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customer + booking context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84962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policy clauses only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6285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45628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entitlement decisions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3360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80560" y="18288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1A2740"/>
          </a:solidFill>
          <a:ln w="1905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09160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0" y="2514600"/>
            <a:ext cx="548640" cy="54864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2461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6393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system prompt · temperature 0.4 · ≤220 output tokens · server-side only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526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decisions.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make them.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845552" y="3360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94192" y="1828800"/>
            <a:ext cx="3246120" cy="3520440"/>
          </a:xfrm>
          <a:prstGeom prst="roundRect">
            <a:avLst>
              <a:gd name="adj" fmla="val 2254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22792" y="2029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22792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33104" y="2423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response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22792" y="31363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833104" y="31363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chips (Booking Data / Service Policy)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622792" y="384962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33104" y="384962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action, framed honestly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622792" y="456285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833104" y="45628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 when policy requires it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0B1220"/>
          </a:solidFill>
          <a:ln w="12700">
            <a:solidFill>
              <a:srgbClr val="1D2B4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CONFIDENCE  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invented number — confidence comes from whether the policy engine already resolved the action (deterministic) or the request is genuinely open-ended.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&amp;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the Model Never Makes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under 3h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378440" y="1810512"/>
            <a:ext cx="607162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FAE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78440" y="1801368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over 3h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5856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Lounge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78440" y="2377440"/>
            <a:ext cx="607162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FAE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378440" y="2368296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825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over 5h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82549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Hotel — delayed hours only, not a full night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78440" y="2944368"/>
            <a:ext cx="607162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FAE7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78440" y="2935224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392424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392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Airline cancellation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39242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rebooking (24h) OR full refund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78440" y="3511296"/>
            <a:ext cx="607162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FAE7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78440" y="3502152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959352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39593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difference &gt; ₹1,500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95935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supervisor approval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78440" y="4078224"/>
            <a:ext cx="672998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E0A9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78440" y="4069080"/>
            <a:ext cx="672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E0A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526280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5262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 threat / formal complaint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5262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escalation — bypasses the LLM entirely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378440" y="4645152"/>
            <a:ext cx="607162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E263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78440" y="4636008"/>
            <a:ext cx="607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E263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5202936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20293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 </a:t>
            </a:r>
            <a:pPr indent="0" marL="0">
              <a:buNone/>
            </a:pPr>
            <a:r>
              <a:rPr lang="en-US" sz="11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returns: action · status · policy reference · plain-language reason — written to an audit ledger with a timestamp.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/ CONTROL CENTER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Operators Watch the Agent Think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19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Queue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06654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tier, and disruption visible at a glance — select any customer to load full context instantly.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Conversation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1810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free-text chat, source chips, typing state — not a canned FAQ tree.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822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Actions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16966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entitlement matrix, and one-click policy-governed execution, side by side.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873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2212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timestamped with its policy reference — reviewable after the fact.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06440" y="169164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2148840"/>
            <a:ext cx="5852160" cy="0"/>
          </a:xfrm>
          <a:prstGeom prst="line">
            <a:avLst/>
          </a:prstGeom>
          <a:noFill/>
          <a:ln w="12700">
            <a:solidFill>
              <a:srgbClr val="1D2B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69164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✈  AIONOS AIR  ·  Resolution Control Tower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247120" y="1892808"/>
            <a:ext cx="73152" cy="73152"/>
          </a:xfrm>
          <a:prstGeom prst="ellipse">
            <a:avLst/>
          </a:prstGeom>
          <a:solidFill>
            <a:srgbClr val="4FAE7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698480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007608" y="2313432"/>
            <a:ext cx="14045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07608" y="2587752"/>
            <a:ext cx="1404518" cy="512064"/>
          </a:xfrm>
          <a:prstGeom prst="roundRect">
            <a:avLst>
              <a:gd name="adj" fmla="val 8929"/>
            </a:avLst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80760" y="2633472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080760" y="2880360"/>
            <a:ext cx="947318" cy="14630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263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07608" y="3191256"/>
            <a:ext cx="1404518" cy="512064"/>
          </a:xfrm>
          <a:prstGeom prst="roundRect">
            <a:avLst>
              <a:gd name="adj" fmla="val 8929"/>
            </a:avLst>
          </a:prstGeom>
          <a:solidFill>
            <a:srgbClr val="0B1220"/>
          </a:solidFill>
          <a:ln w="12700">
            <a:solidFill>
              <a:srgbClr val="1D2B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80760" y="3236976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Arvind Kulkarni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80760" y="3483864"/>
            <a:ext cx="947318" cy="14630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0A9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07608" y="3794760"/>
            <a:ext cx="1404518" cy="512064"/>
          </a:xfrm>
          <a:prstGeom prst="roundRect">
            <a:avLst>
              <a:gd name="adj" fmla="val 8929"/>
            </a:avLst>
          </a:prstGeom>
          <a:solidFill>
            <a:srgbClr val="0B1220"/>
          </a:solidFill>
          <a:ln w="12700">
            <a:solidFill>
              <a:srgbClr val="1D2B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0760" y="3840480"/>
            <a:ext cx="1258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 Kaur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080760" y="4087368"/>
            <a:ext cx="947318" cy="14630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E0A9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95006" y="2313432"/>
            <a:ext cx="21067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CONVERSATION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284464" y="258775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E74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30184" y="25877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refund me.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7595006" y="2971800"/>
            <a:ext cx="1969618" cy="512064"/>
          </a:xfrm>
          <a:prstGeom prst="roundRect">
            <a:avLst>
              <a:gd name="adj" fmla="val 14286"/>
            </a:avLst>
          </a:prstGeom>
          <a:solidFill>
            <a:srgbClr val="1A2740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68158" y="3026664"/>
            <a:ext cx="18141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refund has been initiated — 7 business days to your original payment method.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7595006" y="3593592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95006" y="35935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 Data</a:t>
            </a:r>
            <a:endParaRPr lang="en-US" sz="600" dirty="0"/>
          </a:p>
        </p:txBody>
      </p:sp>
      <p:sp>
        <p:nvSpPr>
          <p:cNvPr id="40" name="Text 38"/>
          <p:cNvSpPr txBox="1"/>
          <p:nvPr/>
        </p:nvSpPr>
        <p:spPr>
          <a:xfrm>
            <a:off x="9884664" y="23134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884664" y="2587752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B1220"/>
          </a:solidFill>
          <a:ln w="9525">
            <a:solidFill>
              <a:srgbClr val="1D2B4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957816" y="25877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Refund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9957816" y="2807208"/>
            <a:ext cx="640080" cy="118872"/>
          </a:xfrm>
          <a:prstGeom prst="roundRect">
            <a:avLst>
              <a:gd name="adj" fmla="val 53846"/>
            </a:avLst>
          </a:prstGeom>
          <a:solidFill>
            <a:srgbClr val="121C2E"/>
          </a:solidFill>
          <a:ln w="7620">
            <a:solidFill>
              <a:srgbClr val="4FAE7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957816" y="280263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480" dirty="0"/>
          </a:p>
        </p:txBody>
      </p:sp>
      <p:sp>
        <p:nvSpPr>
          <p:cNvPr id="45" name="Shape 43"/>
          <p:cNvSpPr/>
          <p:nvPr/>
        </p:nvSpPr>
        <p:spPr>
          <a:xfrm>
            <a:off x="9884664" y="3044952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B1220"/>
          </a:solidFill>
          <a:ln w="9525">
            <a:solidFill>
              <a:srgbClr val="1D2B4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957816" y="3044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Rebooking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9957816" y="3264408"/>
            <a:ext cx="640080" cy="118872"/>
          </a:xfrm>
          <a:prstGeom prst="roundRect">
            <a:avLst>
              <a:gd name="adj" fmla="val 53846"/>
            </a:avLst>
          </a:prstGeom>
          <a:solidFill>
            <a:srgbClr val="121C2E"/>
          </a:solidFill>
          <a:ln w="7620">
            <a:solidFill>
              <a:srgbClr val="4FAE7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57816" y="325983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</a:t>
            </a:r>
            <a:endParaRPr lang="en-US" sz="480" dirty="0"/>
          </a:p>
        </p:txBody>
      </p:sp>
      <p:sp>
        <p:nvSpPr>
          <p:cNvPr id="49" name="Shape 47"/>
          <p:cNvSpPr/>
          <p:nvPr/>
        </p:nvSpPr>
        <p:spPr>
          <a:xfrm>
            <a:off x="9884664" y="3502152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B1220"/>
          </a:solidFill>
          <a:ln w="9525">
            <a:solidFill>
              <a:srgbClr val="1D2B4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957816" y="35021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Upgrade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9957816" y="3721608"/>
            <a:ext cx="640080" cy="118872"/>
          </a:xfrm>
          <a:prstGeom prst="roundRect">
            <a:avLst>
              <a:gd name="adj" fmla="val 53846"/>
            </a:avLst>
          </a:prstGeom>
          <a:solidFill>
            <a:srgbClr val="121C2E"/>
          </a:solidFill>
          <a:ln w="7620">
            <a:solidFill>
              <a:srgbClr val="E0A93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957816" y="371703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E0A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</a:t>
            </a:r>
            <a:endParaRPr lang="en-US" sz="480" dirty="0"/>
          </a:p>
        </p:txBody>
      </p:sp>
      <p:sp>
        <p:nvSpPr>
          <p:cNvPr id="53" name="Text 51"/>
          <p:cNvSpPr txBox="1"/>
          <p:nvPr/>
        </p:nvSpPr>
        <p:spPr>
          <a:xfrm>
            <a:off x="5806440" y="5806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wireframe — actual UI is a full interactive web app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in One Command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6536" cy="1965960"/>
          </a:xfrm>
          <a:prstGeom prst="roundRect">
            <a:avLst>
              <a:gd name="adj" fmla="val 3721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92808"/>
            <a:ext cx="252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148840"/>
            <a:ext cx="2520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51760"/>
            <a:ext cx="306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dashboard, real-time state, component-driven 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1208" y="1691640"/>
            <a:ext cx="3526536" cy="1965960"/>
          </a:xfrm>
          <a:prstGeom prst="roundRect">
            <a:avLst>
              <a:gd name="adj" fmla="val 3721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9808" y="1920240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9808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54168" y="1892808"/>
            <a:ext cx="252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154168" y="2148840"/>
            <a:ext cx="2520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API layer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59808" y="2651760"/>
            <a:ext cx="306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/api/customers  ·  /api/chat  ·  /api/action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13776" y="1691640"/>
            <a:ext cx="3526536" cy="1965960"/>
          </a:xfrm>
          <a:prstGeom prst="roundRect">
            <a:avLst>
              <a:gd name="adj" fmla="val 3721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42376" y="1920240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4237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936736" y="1892808"/>
            <a:ext cx="252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/ LLM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936736" y="2148840"/>
            <a:ext cx="2520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42376" y="2651760"/>
            <a:ext cx="306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reasoning engine, called server-side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913632"/>
            <a:ext cx="3526536" cy="1965960"/>
          </a:xfrm>
          <a:prstGeom prst="roundRect">
            <a:avLst>
              <a:gd name="adj" fmla="val 3721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114800"/>
            <a:ext cx="252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370832"/>
            <a:ext cx="2520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integration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873752"/>
            <a:ext cx="306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frontend, backend, and the LLM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31208" y="3913632"/>
            <a:ext cx="3526536" cy="1965960"/>
          </a:xfrm>
          <a:prstGeom prst="roundRect">
            <a:avLst>
              <a:gd name="adj" fmla="val 3721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59808" y="4142232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980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⌗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154168" y="4114800"/>
            <a:ext cx="252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154168" y="4370832"/>
            <a:ext cx="2520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store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559808" y="4873752"/>
            <a:ext cx="306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booking, and policy records + audit ledger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13776" y="3913632"/>
            <a:ext cx="3526536" cy="1965960"/>
          </a:xfrm>
          <a:prstGeom prst="roundRect">
            <a:avLst>
              <a:gd name="adj" fmla="val 3721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42376" y="4142232"/>
            <a:ext cx="457200" cy="457200"/>
          </a:xfrm>
          <a:prstGeom prst="ellipse">
            <a:avLst/>
          </a:prstGeom>
          <a:solidFill>
            <a:srgbClr val="1A274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42376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8936736" y="4114800"/>
            <a:ext cx="2520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936736" y="4370832"/>
            <a:ext cx="2520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42376" y="4873752"/>
            <a:ext cx="3069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run · environment-based key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WALKTHROUGH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 — Flight SK-204, Cancelled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67178" cy="2834640"/>
          </a:xfrm>
          <a:prstGeom prst="roundRect">
            <a:avLst>
              <a:gd name="adj" fmla="val 2850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51760"/>
            <a:ext cx="22014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SK-204 (Delhi→Goa) cancelled. Priya asks for a full refund and a free business-class upgrade on her unaffected return flight — “for the trouble.”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3115818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90138" y="1691640"/>
            <a:ext cx="2567178" cy="2834640"/>
          </a:xfrm>
          <a:prstGeom prst="roundRect">
            <a:avLst>
              <a:gd name="adj" fmla="val 2850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73018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73018" y="2212848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73018" y="2651760"/>
            <a:ext cx="22014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two distinct asks; retrieves SK4821X booking and policy; checks both against the entitlement matrix.</a:t>
            </a:r>
            <a:endParaRPr lang="en-US" sz="980" dirty="0"/>
          </a:p>
        </p:txBody>
      </p:sp>
      <p:sp>
        <p:nvSpPr>
          <p:cNvPr id="15" name="Text 13"/>
          <p:cNvSpPr txBox="1"/>
          <p:nvPr/>
        </p:nvSpPr>
        <p:spPr>
          <a:xfrm>
            <a:off x="5957316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1636" y="1691640"/>
            <a:ext cx="2567178" cy="2834640"/>
          </a:xfrm>
          <a:prstGeom prst="roundRect">
            <a:avLst>
              <a:gd name="adj" fmla="val 2850"/>
            </a:avLst>
          </a:prstGeom>
          <a:solidFill>
            <a:srgbClr val="1A2740"/>
          </a:solidFill>
          <a:ln w="12700">
            <a:solidFill>
              <a:srgbClr val="E0A93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14516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14516" y="2212848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14516" y="2651760"/>
            <a:ext cx="22014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→ Allowed. Business upgrade → Escalation Required (goodwill compensation beyond stated policy).</a:t>
            </a:r>
            <a:endParaRPr lang="en-US" sz="980" dirty="0"/>
          </a:p>
        </p:txBody>
      </p:sp>
      <p:sp>
        <p:nvSpPr>
          <p:cNvPr id="20" name="Text 18"/>
          <p:cNvSpPr txBox="1"/>
          <p:nvPr/>
        </p:nvSpPr>
        <p:spPr>
          <a:xfrm>
            <a:off x="8798814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73134" y="1691640"/>
            <a:ext cx="2567178" cy="2834640"/>
          </a:xfrm>
          <a:prstGeom prst="roundRect">
            <a:avLst>
              <a:gd name="adj" fmla="val 2850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56014" y="1847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56014" y="2212848"/>
            <a:ext cx="220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256014" y="2651760"/>
            <a:ext cx="22014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initiated automatically — 7 business days, original payment method. Upgrade request routed to a supervisor with full reasoning attached.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48554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 EXCERPT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22960" y="5148072"/>
            <a:ext cx="4937760" cy="713232"/>
          </a:xfrm>
          <a:prstGeom prst="roundRect">
            <a:avLst>
              <a:gd name="adj" fmla="val 10256"/>
            </a:avLst>
          </a:prstGeom>
          <a:solidFill>
            <a:srgbClr val="0E74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05840" y="514807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furious — I want a full cash refund AND a free business-class upgrade on my return flight, for the trouble.”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514807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1A2740"/>
          </a:solidFill>
          <a:ln w="12700">
            <a:solidFill>
              <a:srgbClr val="2737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51480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“I’ve initiated your full refund — 7 business days to your original payment method. The upgrade is beyond standard policy, so I’m routing it to a supervisor.”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5952744"/>
            <a:ext cx="1133856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4FAE7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94360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REFUND: ALLOWED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97480" y="5952744"/>
            <a:ext cx="1331366" cy="23774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E0A9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97480" y="5943600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E0A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UPGRADE: ESCALATED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8714232" y="5943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 Data  ·  Service Policy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6217920"/>
            <a:ext cx="914400" cy="9144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5760720"/>
            <a:ext cx="1828800" cy="18288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49840" y="5303520"/>
            <a:ext cx="2743200" cy="27432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4846320"/>
            <a:ext cx="3657600" cy="3657600"/>
          </a:xfrm>
          <a:prstGeom prst="ellipse">
            <a:avLst/>
          </a:prstGeom>
          <a:ln w="9525">
            <a:solidFill>
              <a:srgbClr val="0E7490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FUTURE SCOPE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Changes, and What’s Next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AIONOS AIR  ·  Agentic AI Resolution Control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155680" y="6528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121C2E"/>
          </a:solidFill>
          <a:ln w="12700">
            <a:solidFill>
              <a:srgbClr val="2737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FAE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TODAY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77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700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policy lookup — entitlements are pre-computed per customer.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54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4472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rules apply every time, for every agent and every customer.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31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explainability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245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carries a policy reference and a reason, logged for audit.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human load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001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cases resolve automatically; only genuine exceptions escalate.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82512" y="1737360"/>
            <a:ext cx="5257800" cy="3703320"/>
          </a:xfrm>
          <a:prstGeom prst="roundRect">
            <a:avLst>
              <a:gd name="adj" fmla="val 1975"/>
            </a:avLst>
          </a:prstGeom>
          <a:solidFill>
            <a:srgbClr val="1A2740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56832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56832" y="2377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267004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customers in their own language without new policy work.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656832" y="3154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channel integration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56832" y="34472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same grounded reasoning to phone support.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39319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disruption alerts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56832" y="42245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reach customers before they have to contact support.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656832" y="4709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co-pilot view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656832" y="50017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queue and reasoning trace for escalated cases.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AIR   </a:t>
            </a:r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Resolve With Reason.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2026-09-17T20:49:26Z</dcterms:created>
  <dcterms:modified xsi:type="dcterms:W3CDTF">2026-09-17T20:49:26Z</dcterms:modified>
</cp:coreProperties>
</file>